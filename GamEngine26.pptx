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6"/>
  </p:notesMasterIdLst>
  <p:sldIdLst>
    <p:sldId id="256" r:id="rId2"/>
    <p:sldId id="257" r:id="rId3"/>
    <p:sldId id="258" r:id="rId4"/>
    <p:sldId id="259" r:id="rId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5033" autoAdjust="0"/>
  </p:normalViewPr>
  <p:slideViewPr>
    <p:cSldViewPr snapToGrid="0">
      <p:cViewPr varScale="1">
        <p:scale>
          <a:sx n="75" d="100"/>
          <a:sy n="75" d="100"/>
        </p:scale>
        <p:origin x="902"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27AE815-693F-4F5F-8703-02B554464B01}" type="datetimeFigureOut">
              <a:rPr lang="en-US" smtClean="0"/>
              <a:t>3/21/2026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5C9C285-442B-4AAF-82B6-6A35F8C9930B}" type="slidenum">
              <a:rPr lang="en-US" smtClean="0"/>
              <a:t>‹#›</a:t>
            </a:fld>
            <a:endParaRPr lang="en-US"/>
          </a:p>
        </p:txBody>
      </p:sp>
    </p:spTree>
    <p:extLst>
      <p:ext uri="{BB962C8B-B14F-4D97-AF65-F5344CB8AC3E}">
        <p14:creationId xmlns:p14="http://schemas.microsoft.com/office/powerpoint/2010/main" val="31584858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5C9C285-442B-4AAF-82B6-6A35F8C9930B}" type="slidenum">
              <a:rPr lang="en-US" smtClean="0"/>
              <a:t>1</a:t>
            </a:fld>
            <a:endParaRPr lang="en-US"/>
          </a:p>
        </p:txBody>
      </p:sp>
    </p:spTree>
    <p:extLst>
      <p:ext uri="{BB962C8B-B14F-4D97-AF65-F5344CB8AC3E}">
        <p14:creationId xmlns:p14="http://schemas.microsoft.com/office/powerpoint/2010/main" val="42181175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D88D2C47-7D4F-4A0D-827F-889BE69F5D32}" type="datetimeFigureOut">
              <a:rPr lang="en-US" smtClean="0"/>
              <a:t>3/21/2026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B2AAEE8-469A-4969-A3A5-97569D77B571}" type="slidenum">
              <a:rPr lang="en-US" smtClean="0"/>
              <a:t>‹#›</a:t>
            </a:fld>
            <a:endParaRPr lang="en-US"/>
          </a:p>
        </p:txBody>
      </p:sp>
    </p:spTree>
    <p:extLst>
      <p:ext uri="{BB962C8B-B14F-4D97-AF65-F5344CB8AC3E}">
        <p14:creationId xmlns:p14="http://schemas.microsoft.com/office/powerpoint/2010/main" val="24353570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88D2C47-7D4F-4A0D-827F-889BE69F5D32}" type="datetimeFigureOut">
              <a:rPr lang="en-US" smtClean="0"/>
              <a:t>3/21/2026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B2AAEE8-469A-4969-A3A5-97569D77B571}" type="slidenum">
              <a:rPr lang="en-US" smtClean="0"/>
              <a:t>‹#›</a:t>
            </a:fld>
            <a:endParaRPr lang="en-US"/>
          </a:p>
        </p:txBody>
      </p:sp>
    </p:spTree>
    <p:extLst>
      <p:ext uri="{BB962C8B-B14F-4D97-AF65-F5344CB8AC3E}">
        <p14:creationId xmlns:p14="http://schemas.microsoft.com/office/powerpoint/2010/main" val="41085330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D88D2C47-7D4F-4A0D-827F-889BE69F5D32}" type="datetimeFigureOut">
              <a:rPr lang="en-US" smtClean="0"/>
              <a:t>3/21/2026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B2AAEE8-469A-4969-A3A5-97569D77B571}" type="slidenum">
              <a:rPr lang="en-US" smtClean="0"/>
              <a:t>‹#›</a:t>
            </a:fld>
            <a:endParaRPr lang="en-US"/>
          </a:p>
        </p:txBody>
      </p:sp>
    </p:spTree>
    <p:extLst>
      <p:ext uri="{BB962C8B-B14F-4D97-AF65-F5344CB8AC3E}">
        <p14:creationId xmlns:p14="http://schemas.microsoft.com/office/powerpoint/2010/main" val="1562743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D88D2C47-7D4F-4A0D-827F-889BE69F5D32}" type="datetimeFigureOut">
              <a:rPr lang="en-US" smtClean="0"/>
              <a:t>3/21/2026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B2AAEE8-469A-4969-A3A5-97569D77B571}" type="slidenum">
              <a:rPr lang="en-US" smtClean="0"/>
              <a:t>‹#›</a:t>
            </a:fld>
            <a:endParaRPr lang="en-US"/>
          </a:p>
        </p:txBody>
      </p:sp>
    </p:spTree>
    <p:extLst>
      <p:ext uri="{BB962C8B-B14F-4D97-AF65-F5344CB8AC3E}">
        <p14:creationId xmlns:p14="http://schemas.microsoft.com/office/powerpoint/2010/main" val="8740777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D88D2C47-7D4F-4A0D-827F-889BE69F5D32}" type="datetimeFigureOut">
              <a:rPr lang="en-US" smtClean="0"/>
              <a:t>3/21/2026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5B2AAEE8-469A-4969-A3A5-97569D77B571}" type="slidenum">
              <a:rPr lang="en-US" smtClean="0"/>
              <a:t>‹#›</a:t>
            </a:fld>
            <a:endParaRPr lang="en-US"/>
          </a:p>
        </p:txBody>
      </p:sp>
    </p:spTree>
    <p:extLst>
      <p:ext uri="{BB962C8B-B14F-4D97-AF65-F5344CB8AC3E}">
        <p14:creationId xmlns:p14="http://schemas.microsoft.com/office/powerpoint/2010/main" val="42478817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D88D2C47-7D4F-4A0D-827F-889BE69F5D32}" type="datetimeFigureOut">
              <a:rPr lang="en-US" smtClean="0"/>
              <a:t>3/21/2026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5B2AAEE8-469A-4969-A3A5-97569D77B571}" type="slidenum">
              <a:rPr lang="en-US" smtClean="0"/>
              <a:t>‹#›</a:t>
            </a:fld>
            <a:endParaRPr lang="en-US"/>
          </a:p>
        </p:txBody>
      </p:sp>
    </p:spTree>
    <p:extLst>
      <p:ext uri="{BB962C8B-B14F-4D97-AF65-F5344CB8AC3E}">
        <p14:creationId xmlns:p14="http://schemas.microsoft.com/office/powerpoint/2010/main" val="26015443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88D2C47-7D4F-4A0D-827F-889BE69F5D32}" type="datetimeFigureOut">
              <a:rPr lang="en-US" smtClean="0"/>
              <a:t>3/21/2026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5B2AAEE8-469A-4969-A3A5-97569D77B571}" type="slidenum">
              <a:rPr lang="en-US" smtClean="0"/>
              <a:t>‹#›</a:t>
            </a:fld>
            <a:endParaRPr lang="en-US"/>
          </a:p>
        </p:txBody>
      </p:sp>
    </p:spTree>
    <p:extLst>
      <p:ext uri="{BB962C8B-B14F-4D97-AF65-F5344CB8AC3E}">
        <p14:creationId xmlns:p14="http://schemas.microsoft.com/office/powerpoint/2010/main" val="23279639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88D2C47-7D4F-4A0D-827F-889BE69F5D32}" type="datetimeFigureOut">
              <a:rPr lang="en-US" smtClean="0"/>
              <a:t>3/21/2026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B2AAEE8-469A-4969-A3A5-97569D77B571}" type="slidenum">
              <a:rPr lang="en-US" smtClean="0"/>
              <a:t>‹#›</a:t>
            </a:fld>
            <a:endParaRPr lang="en-US"/>
          </a:p>
        </p:txBody>
      </p:sp>
    </p:spTree>
    <p:extLst>
      <p:ext uri="{BB962C8B-B14F-4D97-AF65-F5344CB8AC3E}">
        <p14:creationId xmlns:p14="http://schemas.microsoft.com/office/powerpoint/2010/main" val="34916615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88D2C47-7D4F-4A0D-827F-889BE69F5D32}" type="datetimeFigureOut">
              <a:rPr lang="en-US" smtClean="0"/>
              <a:t>3/21/2026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B2AAEE8-469A-4969-A3A5-97569D77B571}" type="slidenum">
              <a:rPr lang="en-US" smtClean="0"/>
              <a:t>‹#›</a:t>
            </a:fld>
            <a:endParaRPr lang="en-US"/>
          </a:p>
        </p:txBody>
      </p:sp>
    </p:spTree>
    <p:extLst>
      <p:ext uri="{BB962C8B-B14F-4D97-AF65-F5344CB8AC3E}">
        <p14:creationId xmlns:p14="http://schemas.microsoft.com/office/powerpoint/2010/main" val="20267266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88D2C47-7D4F-4A0D-827F-889BE69F5D32}" type="datetimeFigureOut">
              <a:rPr lang="en-US" smtClean="0"/>
              <a:t>3/21/2026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B2AAEE8-469A-4969-A3A5-97569D77B571}" type="slidenum">
              <a:rPr lang="en-US" smtClean="0"/>
              <a:t>‹#›</a:t>
            </a:fld>
            <a:endParaRPr lang="en-US"/>
          </a:p>
        </p:txBody>
      </p:sp>
    </p:spTree>
    <p:extLst>
      <p:ext uri="{BB962C8B-B14F-4D97-AF65-F5344CB8AC3E}">
        <p14:creationId xmlns:p14="http://schemas.microsoft.com/office/powerpoint/2010/main" val="30984976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88D2C47-7D4F-4A0D-827F-889BE69F5D32}" type="datetimeFigureOut">
              <a:rPr lang="en-US" smtClean="0"/>
              <a:t>3/21/2026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5B2AAEE8-469A-4969-A3A5-97569D77B571}" type="slidenum">
              <a:rPr lang="en-US" smtClean="0"/>
              <a:t>‹#›</a:t>
            </a:fld>
            <a:endParaRPr lang="en-US"/>
          </a:p>
        </p:txBody>
      </p:sp>
    </p:spTree>
    <p:extLst>
      <p:ext uri="{BB962C8B-B14F-4D97-AF65-F5344CB8AC3E}">
        <p14:creationId xmlns:p14="http://schemas.microsoft.com/office/powerpoint/2010/main" val="4167679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D88D2C47-7D4F-4A0D-827F-889BE69F5D32}" type="datetimeFigureOut">
              <a:rPr lang="en-US" smtClean="0"/>
              <a:t>3/21/2026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5B2AAEE8-469A-4969-A3A5-97569D77B571}" type="slidenum">
              <a:rPr lang="en-US" smtClean="0"/>
              <a:t>‹#›</a:t>
            </a:fld>
            <a:endParaRPr lang="en-US"/>
          </a:p>
        </p:txBody>
      </p:sp>
    </p:spTree>
    <p:extLst>
      <p:ext uri="{BB962C8B-B14F-4D97-AF65-F5344CB8AC3E}">
        <p14:creationId xmlns:p14="http://schemas.microsoft.com/office/powerpoint/2010/main" val="2242223938"/>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jpg"/><Relationship Id="rId13" Type="http://schemas.openxmlformats.org/officeDocument/2006/relationships/image" Target="../media/image11.jpg"/><Relationship Id="rId18" Type="http://schemas.openxmlformats.org/officeDocument/2006/relationships/image" Target="../media/image16.jpg"/><Relationship Id="rId3" Type="http://schemas.openxmlformats.org/officeDocument/2006/relationships/image" Target="../media/image1.jpg"/><Relationship Id="rId7" Type="http://schemas.openxmlformats.org/officeDocument/2006/relationships/image" Target="../media/image5.jpg"/><Relationship Id="rId12" Type="http://schemas.openxmlformats.org/officeDocument/2006/relationships/image" Target="../media/image10.jpg"/><Relationship Id="rId17" Type="http://schemas.openxmlformats.org/officeDocument/2006/relationships/image" Target="../media/image15.jpg"/><Relationship Id="rId2" Type="http://schemas.openxmlformats.org/officeDocument/2006/relationships/notesSlide" Target="../notesSlides/notesSlide1.xml"/><Relationship Id="rId16" Type="http://schemas.openxmlformats.org/officeDocument/2006/relationships/image" Target="../media/image14.jpg"/><Relationship Id="rId1" Type="http://schemas.openxmlformats.org/officeDocument/2006/relationships/slideLayout" Target="../slideLayouts/slideLayout1.xml"/><Relationship Id="rId6" Type="http://schemas.openxmlformats.org/officeDocument/2006/relationships/image" Target="../media/image4.jpg"/><Relationship Id="rId11" Type="http://schemas.openxmlformats.org/officeDocument/2006/relationships/image" Target="../media/image9.jpg"/><Relationship Id="rId5" Type="http://schemas.openxmlformats.org/officeDocument/2006/relationships/image" Target="../media/image3.jpg"/><Relationship Id="rId15" Type="http://schemas.openxmlformats.org/officeDocument/2006/relationships/image" Target="../media/image13.jpg"/><Relationship Id="rId10" Type="http://schemas.openxmlformats.org/officeDocument/2006/relationships/image" Target="../media/image8.jpg"/><Relationship Id="rId4" Type="http://schemas.openxmlformats.org/officeDocument/2006/relationships/image" Target="../media/image2.jpg"/><Relationship Id="rId9" Type="http://schemas.openxmlformats.org/officeDocument/2006/relationships/image" Target="../media/image7.jpg"/><Relationship Id="rId14" Type="http://schemas.openxmlformats.org/officeDocument/2006/relationships/image" Target="../media/image12.jpg"/></Relationships>
</file>

<file path=ppt/slides/_rels/slide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9" name="Picture 8" descr="Cartoon characters in a room">
            <a:extLst>
              <a:ext uri="{FF2B5EF4-FFF2-40B4-BE49-F238E27FC236}">
                <a16:creationId xmlns:a16="http://schemas.microsoft.com/office/drawing/2014/main" id="{7A5D33E7-C495-2463-E5D9-74B8B74994C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20498386">
            <a:off x="8242705" y="2102665"/>
            <a:ext cx="2564092" cy="3518452"/>
          </a:xfrm>
          <a:prstGeom prst="rect">
            <a:avLst/>
          </a:prstGeom>
        </p:spPr>
      </p:pic>
      <p:pic>
        <p:nvPicPr>
          <p:cNvPr id="11" name="Picture 10" descr="A cartoon pandas holding a torch&#10;&#10;AI-generated content may be incorrect.">
            <a:extLst>
              <a:ext uri="{FF2B5EF4-FFF2-40B4-BE49-F238E27FC236}">
                <a16:creationId xmlns:a16="http://schemas.microsoft.com/office/drawing/2014/main" id="{6B4864CE-152B-2531-8903-7A81D1B3255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20491631">
            <a:off x="10831592" y="1949198"/>
            <a:ext cx="2531626" cy="3448878"/>
          </a:xfrm>
          <a:prstGeom prst="rect">
            <a:avLst/>
          </a:prstGeom>
        </p:spPr>
      </p:pic>
      <p:pic>
        <p:nvPicPr>
          <p:cNvPr id="15" name="Picture 14" descr="A video game of a video game&#10;&#10;AI-generated content may be incorrect.">
            <a:extLst>
              <a:ext uri="{FF2B5EF4-FFF2-40B4-BE49-F238E27FC236}">
                <a16:creationId xmlns:a16="http://schemas.microsoft.com/office/drawing/2014/main" id="{7A57DC15-2DB0-F820-94E1-B0F6062233F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20419282">
            <a:off x="1752811" y="-901669"/>
            <a:ext cx="2576209" cy="3492229"/>
          </a:xfrm>
          <a:prstGeom prst="rect">
            <a:avLst/>
          </a:prstGeom>
        </p:spPr>
      </p:pic>
      <p:pic>
        <p:nvPicPr>
          <p:cNvPr id="17" name="Picture 16" descr="A video game with a couple of characters">
            <a:extLst>
              <a:ext uri="{FF2B5EF4-FFF2-40B4-BE49-F238E27FC236}">
                <a16:creationId xmlns:a16="http://schemas.microsoft.com/office/drawing/2014/main" id="{18A672A9-50E2-1815-0EEF-63EA6A6F945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rot="20499389">
            <a:off x="9782723" y="-1351735"/>
            <a:ext cx="2581850" cy="3453321"/>
          </a:xfrm>
          <a:prstGeom prst="rect">
            <a:avLst/>
          </a:prstGeom>
        </p:spPr>
      </p:pic>
      <p:pic>
        <p:nvPicPr>
          <p:cNvPr id="23" name="Picture 22" descr="A video game screen with mountains and text&#10;&#10;AI-generated content may be incorrect.">
            <a:extLst>
              <a:ext uri="{FF2B5EF4-FFF2-40B4-BE49-F238E27FC236}">
                <a16:creationId xmlns:a16="http://schemas.microsoft.com/office/drawing/2014/main" id="{F33E34E3-EED1-625F-8713-99488B2F3C3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rot="20460063">
            <a:off x="318083" y="2879831"/>
            <a:ext cx="2606338" cy="3552497"/>
          </a:xfrm>
          <a:prstGeom prst="rect">
            <a:avLst/>
          </a:prstGeom>
        </p:spPr>
      </p:pic>
      <p:pic>
        <p:nvPicPr>
          <p:cNvPr id="25" name="Picture 24" descr="A video game with a dinosaur and cactus">
            <a:extLst>
              <a:ext uri="{FF2B5EF4-FFF2-40B4-BE49-F238E27FC236}">
                <a16:creationId xmlns:a16="http://schemas.microsoft.com/office/drawing/2014/main" id="{4AC8FB91-6268-428E-C846-EA1E0078CA2F}"/>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rot="20438457">
            <a:off x="-777763" y="-334098"/>
            <a:ext cx="2564275" cy="3476315"/>
          </a:xfrm>
          <a:prstGeom prst="rect">
            <a:avLst/>
          </a:prstGeom>
        </p:spPr>
      </p:pic>
      <p:pic>
        <p:nvPicPr>
          <p:cNvPr id="27" name="Picture 26" descr="A video game with a maze&#10;&#10;AI-generated content may be incorrect.">
            <a:extLst>
              <a:ext uri="{FF2B5EF4-FFF2-40B4-BE49-F238E27FC236}">
                <a16:creationId xmlns:a16="http://schemas.microsoft.com/office/drawing/2014/main" id="{F6D6D98C-1691-17C8-BBAD-753C637750A1}"/>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rot="20525831">
            <a:off x="9325926" y="5444357"/>
            <a:ext cx="2603317" cy="3499946"/>
          </a:xfrm>
          <a:prstGeom prst="rect">
            <a:avLst/>
          </a:prstGeom>
        </p:spPr>
      </p:pic>
      <p:pic>
        <p:nvPicPr>
          <p:cNvPr id="7" name="Picture 6" descr="A group of cartoon animals&#10;&#10;AI-generated content may be incorrect.">
            <a:extLst>
              <a:ext uri="{FF2B5EF4-FFF2-40B4-BE49-F238E27FC236}">
                <a16:creationId xmlns:a16="http://schemas.microsoft.com/office/drawing/2014/main" id="{910D21EA-6EEB-71B4-5833-201281ADEDD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rot="20492125">
            <a:off x="4454352" y="-860967"/>
            <a:ext cx="2710180" cy="3505764"/>
          </a:xfrm>
          <a:prstGeom prst="rect">
            <a:avLst/>
          </a:prstGeom>
        </p:spPr>
      </p:pic>
      <p:pic>
        <p:nvPicPr>
          <p:cNvPr id="13" name="Picture 12" descr="A group of pandas in a field&#10;&#10;AI-generated content may be incorrect.">
            <a:extLst>
              <a:ext uri="{FF2B5EF4-FFF2-40B4-BE49-F238E27FC236}">
                <a16:creationId xmlns:a16="http://schemas.microsoft.com/office/drawing/2014/main" id="{8272C3C2-D943-7885-112C-0349357CFAA4}"/>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rot="20473331">
            <a:off x="7177772" y="-1165719"/>
            <a:ext cx="2547216" cy="3473984"/>
          </a:xfrm>
          <a:prstGeom prst="rect">
            <a:avLst/>
          </a:prstGeom>
        </p:spPr>
      </p:pic>
      <p:pic>
        <p:nvPicPr>
          <p:cNvPr id="5" name="Picture 4" descr="Cartoon penguin waitress holding a tray of food">
            <a:extLst>
              <a:ext uri="{FF2B5EF4-FFF2-40B4-BE49-F238E27FC236}">
                <a16:creationId xmlns:a16="http://schemas.microsoft.com/office/drawing/2014/main" id="{9D9BEDAC-CC57-A533-56B1-D99FC2D6508E}"/>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rot="20485634">
            <a:off x="5529010" y="2465341"/>
            <a:ext cx="2732090" cy="3478696"/>
          </a:xfrm>
          <a:prstGeom prst="rect">
            <a:avLst/>
          </a:prstGeom>
        </p:spPr>
      </p:pic>
      <p:pic>
        <p:nvPicPr>
          <p:cNvPr id="30" name="Picture 29" descr="A video game cover with cartoon character&#10;&#10;AI-generated content may be incorrect.">
            <a:extLst>
              <a:ext uri="{FF2B5EF4-FFF2-40B4-BE49-F238E27FC236}">
                <a16:creationId xmlns:a16="http://schemas.microsoft.com/office/drawing/2014/main" id="{5EC9E981-449B-6E8A-01A2-A10345047200}"/>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rot="20326402">
            <a:off x="-1855075" y="4192718"/>
            <a:ext cx="2533600" cy="3511365"/>
          </a:xfrm>
          <a:prstGeom prst="rect">
            <a:avLst/>
          </a:prstGeom>
        </p:spPr>
      </p:pic>
      <p:pic>
        <p:nvPicPr>
          <p:cNvPr id="32" name="Picture 31" descr="A video game cover&#10;&#10;AI-generated content may be incorrect.">
            <a:extLst>
              <a:ext uri="{FF2B5EF4-FFF2-40B4-BE49-F238E27FC236}">
                <a16:creationId xmlns:a16="http://schemas.microsoft.com/office/drawing/2014/main" id="{47338312-CDFB-FC89-0AE0-C660E05EEBC2}"/>
              </a:ext>
            </a:extLst>
          </p:cNvPr>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rot="20472170">
            <a:off x="1380462" y="6245091"/>
            <a:ext cx="2718573" cy="3476979"/>
          </a:xfrm>
          <a:prstGeom prst="rect">
            <a:avLst/>
          </a:prstGeom>
        </p:spPr>
      </p:pic>
      <p:pic>
        <p:nvPicPr>
          <p:cNvPr id="34" name="Picture 33" descr="A group of cartoon characters in space">
            <a:extLst>
              <a:ext uri="{FF2B5EF4-FFF2-40B4-BE49-F238E27FC236}">
                <a16:creationId xmlns:a16="http://schemas.microsoft.com/office/drawing/2014/main" id="{F9718D48-0DC7-9795-21F8-481A3B5879B6}"/>
              </a:ext>
            </a:extLst>
          </p:cNvPr>
          <p:cNvPicPr>
            <a:picLocks noChangeAspect="1"/>
          </p:cNvPicPr>
          <p:nvPr/>
        </p:nvPicPr>
        <p:blipFill>
          <a:blip r:embed="rId15">
            <a:extLst>
              <a:ext uri="{28A0092B-C50C-407E-A947-70E740481C1C}">
                <a14:useLocalDpi xmlns:a14="http://schemas.microsoft.com/office/drawing/2010/main" val="0"/>
              </a:ext>
            </a:extLst>
          </a:blip>
          <a:stretch>
            <a:fillRect/>
          </a:stretch>
        </p:blipFill>
        <p:spPr>
          <a:xfrm rot="20406411">
            <a:off x="3937944" y="5658172"/>
            <a:ext cx="2563061" cy="3563007"/>
          </a:xfrm>
          <a:prstGeom prst="rect">
            <a:avLst/>
          </a:prstGeom>
        </p:spPr>
      </p:pic>
      <p:pic>
        <p:nvPicPr>
          <p:cNvPr id="36" name="Picture 35" descr="A video game cover with a video game character&#10;&#10;AI-generated content may be incorrect.">
            <a:extLst>
              <a:ext uri="{FF2B5EF4-FFF2-40B4-BE49-F238E27FC236}">
                <a16:creationId xmlns:a16="http://schemas.microsoft.com/office/drawing/2014/main" id="{5D02534A-5412-5AE6-2E6E-3F38D588A348}"/>
              </a:ext>
            </a:extLst>
          </p:cNvPr>
          <p:cNvPicPr>
            <a:picLocks noChangeAspect="1"/>
          </p:cNvPicPr>
          <p:nvPr/>
        </p:nvPicPr>
        <p:blipFill>
          <a:blip r:embed="rId16">
            <a:extLst>
              <a:ext uri="{28A0092B-C50C-407E-A947-70E740481C1C}">
                <a14:useLocalDpi xmlns:a14="http://schemas.microsoft.com/office/drawing/2010/main" val="0"/>
              </a:ext>
            </a:extLst>
          </a:blip>
          <a:stretch>
            <a:fillRect/>
          </a:stretch>
        </p:blipFill>
        <p:spPr>
          <a:xfrm rot="20480699">
            <a:off x="6687890" y="5746305"/>
            <a:ext cx="2687338" cy="3544841"/>
          </a:xfrm>
          <a:prstGeom prst="rect">
            <a:avLst/>
          </a:prstGeom>
        </p:spPr>
      </p:pic>
      <p:pic>
        <p:nvPicPr>
          <p:cNvPr id="38" name="Picture 37" descr="Cartoon characters standing on top of a pile of chips">
            <a:extLst>
              <a:ext uri="{FF2B5EF4-FFF2-40B4-BE49-F238E27FC236}">
                <a16:creationId xmlns:a16="http://schemas.microsoft.com/office/drawing/2014/main" id="{D6EE8B81-40AB-9B52-3FFF-DAAFAC9CF3A6}"/>
              </a:ext>
            </a:extLst>
          </p:cNvPr>
          <p:cNvPicPr>
            <a:picLocks noChangeAspect="1"/>
          </p:cNvPicPr>
          <p:nvPr/>
        </p:nvPicPr>
        <p:blipFill>
          <a:blip r:embed="rId17">
            <a:extLst>
              <a:ext uri="{28A0092B-C50C-407E-A947-70E740481C1C}">
                <a14:useLocalDpi xmlns:a14="http://schemas.microsoft.com/office/drawing/2010/main" val="0"/>
              </a:ext>
            </a:extLst>
          </a:blip>
          <a:stretch>
            <a:fillRect/>
          </a:stretch>
        </p:blipFill>
        <p:spPr>
          <a:xfrm rot="20463267">
            <a:off x="2870823" y="2410696"/>
            <a:ext cx="2553183" cy="3497694"/>
          </a:xfrm>
          <a:prstGeom prst="rect">
            <a:avLst/>
          </a:prstGeom>
        </p:spPr>
      </p:pic>
      <p:pic>
        <p:nvPicPr>
          <p:cNvPr id="40" name="Picture 39" descr="A poster with cartoon cats&#10;&#10;AI-generated content may be incorrect.">
            <a:extLst>
              <a:ext uri="{FF2B5EF4-FFF2-40B4-BE49-F238E27FC236}">
                <a16:creationId xmlns:a16="http://schemas.microsoft.com/office/drawing/2014/main" id="{8A34CC33-BB28-3F2A-61E5-7554D9A2A60A}"/>
              </a:ext>
            </a:extLst>
          </p:cNvPr>
          <p:cNvPicPr>
            <a:picLocks noChangeAspect="1"/>
          </p:cNvPicPr>
          <p:nvPr/>
        </p:nvPicPr>
        <p:blipFill>
          <a:blip r:embed="rId18">
            <a:extLst>
              <a:ext uri="{28A0092B-C50C-407E-A947-70E740481C1C}">
                <a14:useLocalDpi xmlns:a14="http://schemas.microsoft.com/office/drawing/2010/main" val="0"/>
              </a:ext>
            </a:extLst>
          </a:blip>
          <a:stretch>
            <a:fillRect/>
          </a:stretch>
        </p:blipFill>
        <p:spPr>
          <a:xfrm rot="20440102">
            <a:off x="11946581" y="5226268"/>
            <a:ext cx="2304183" cy="3263462"/>
          </a:xfrm>
          <a:prstGeom prst="rect">
            <a:avLst/>
          </a:prstGeom>
        </p:spPr>
      </p:pic>
    </p:spTree>
    <p:extLst>
      <p:ext uri="{BB962C8B-B14F-4D97-AF65-F5344CB8AC3E}">
        <p14:creationId xmlns:p14="http://schemas.microsoft.com/office/powerpoint/2010/main" val="7973831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654CCD7-7844-EE67-A3EF-5A3FF9866DEA}"/>
              </a:ext>
            </a:extLst>
          </p:cNvPr>
          <p:cNvPicPr>
            <a:picLocks noChangeAspect="1"/>
          </p:cNvPicPr>
          <p:nvPr/>
        </p:nvPicPr>
        <p:blipFill>
          <a:blip r:embed="rId2"/>
          <a:stretch>
            <a:fillRect/>
          </a:stretch>
        </p:blipFill>
        <p:spPr>
          <a:xfrm>
            <a:off x="0" y="0"/>
            <a:ext cx="12192000" cy="6858000"/>
          </a:xfrm>
          <a:prstGeom prst="rect">
            <a:avLst/>
          </a:prstGeom>
        </p:spPr>
      </p:pic>
      <p:sp>
        <p:nvSpPr>
          <p:cNvPr id="3" name="Rectangle 2">
            <a:extLst>
              <a:ext uri="{FF2B5EF4-FFF2-40B4-BE49-F238E27FC236}">
                <a16:creationId xmlns:a16="http://schemas.microsoft.com/office/drawing/2014/main" id="{D9350E9E-B0A5-D202-3CC7-522EB4B55F26}"/>
              </a:ext>
            </a:extLst>
          </p:cNvPr>
          <p:cNvSpPr/>
          <p:nvPr/>
        </p:nvSpPr>
        <p:spPr>
          <a:xfrm>
            <a:off x="0" y="0"/>
            <a:ext cx="12192000" cy="6858000"/>
          </a:xfrm>
          <a:prstGeom prst="rect">
            <a:avLst/>
          </a:prstGeom>
          <a:solidFill>
            <a:schemeClr val="bg1">
              <a:alpha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3BFC67E6-1169-C0DE-AA26-B4624DACB0A9}"/>
              </a:ext>
            </a:extLst>
          </p:cNvPr>
          <p:cNvSpPr txBox="1"/>
          <p:nvPr/>
        </p:nvSpPr>
        <p:spPr>
          <a:xfrm>
            <a:off x="2286000" y="2306320"/>
            <a:ext cx="9337040" cy="1631216"/>
          </a:xfrm>
          <a:prstGeom prst="rect">
            <a:avLst/>
          </a:prstGeom>
          <a:noFill/>
        </p:spPr>
        <p:txBody>
          <a:bodyPr wrap="square" rtlCol="0">
            <a:spAutoFit/>
          </a:bodyPr>
          <a:lstStyle/>
          <a:p>
            <a:r>
              <a:rPr lang="en-US" sz="10000" dirty="0">
                <a:latin typeface="Playbill" panose="040506030A0602020202" pitchFamily="82" charset="0"/>
              </a:rPr>
              <a:t>Multiplayer Game Engine</a:t>
            </a:r>
          </a:p>
        </p:txBody>
      </p:sp>
    </p:spTree>
    <p:extLst>
      <p:ext uri="{BB962C8B-B14F-4D97-AF65-F5344CB8AC3E}">
        <p14:creationId xmlns:p14="http://schemas.microsoft.com/office/powerpoint/2010/main" val="17725535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A639607-7461-E695-490D-9FFD45161805}"/>
              </a:ext>
            </a:extLst>
          </p:cNvPr>
          <p:cNvSpPr txBox="1"/>
          <p:nvPr/>
        </p:nvSpPr>
        <p:spPr>
          <a:xfrm>
            <a:off x="4460240" y="-153125"/>
            <a:ext cx="3840480" cy="1200329"/>
          </a:xfrm>
          <a:prstGeom prst="rect">
            <a:avLst/>
          </a:prstGeom>
          <a:noFill/>
        </p:spPr>
        <p:txBody>
          <a:bodyPr wrap="square" rtlCol="0">
            <a:spAutoFit/>
          </a:bodyPr>
          <a:lstStyle/>
          <a:p>
            <a:r>
              <a:rPr lang="en-US" sz="7200" dirty="0">
                <a:latin typeface="Playbill" panose="040506030A0602020202" pitchFamily="82" charset="0"/>
              </a:rPr>
              <a:t>Project Structure</a:t>
            </a:r>
            <a:endParaRPr lang="en-US" sz="4000" dirty="0">
              <a:latin typeface="Playbill" panose="040506030A0602020202" pitchFamily="82" charset="0"/>
            </a:endParaRPr>
          </a:p>
        </p:txBody>
      </p:sp>
      <p:sp>
        <p:nvSpPr>
          <p:cNvPr id="3" name="TextBox 2">
            <a:extLst>
              <a:ext uri="{FF2B5EF4-FFF2-40B4-BE49-F238E27FC236}">
                <a16:creationId xmlns:a16="http://schemas.microsoft.com/office/drawing/2014/main" id="{75381FF0-B8A6-2BC1-716D-5E0D6F849D3F}"/>
              </a:ext>
            </a:extLst>
          </p:cNvPr>
          <p:cNvSpPr txBox="1"/>
          <p:nvPr/>
        </p:nvSpPr>
        <p:spPr>
          <a:xfrm>
            <a:off x="172720" y="1330960"/>
            <a:ext cx="11562080" cy="4801314"/>
          </a:xfrm>
          <a:prstGeom prst="rect">
            <a:avLst/>
          </a:prstGeom>
          <a:noFill/>
        </p:spPr>
        <p:txBody>
          <a:bodyPr wrap="square" rtlCol="0">
            <a:spAutoFit/>
          </a:bodyPr>
          <a:lstStyle/>
          <a:p>
            <a:pPr marL="342900" indent="-342900">
              <a:buFont typeface="Arial" panose="020B0604020202020204" pitchFamily="34" charset="0"/>
              <a:buChar char="•"/>
            </a:pPr>
            <a:r>
              <a:rPr lang="en-US" sz="2400" b="1" dirty="0"/>
              <a:t>Header Files (.h)</a:t>
            </a:r>
            <a:r>
              <a:rPr lang="en-US" sz="2400" dirty="0"/>
              <a:t> </a:t>
            </a:r>
          </a:p>
          <a:p>
            <a:r>
              <a:rPr lang="en-US" sz="2000" dirty="0"/>
              <a:t>Header files contain class declarations, function prototypes, and variable definitions. They serve as an interface that allows other files to access a class without exposing its implementation. Any source file that requires access to a class simply includes its corresponding header file.</a:t>
            </a:r>
          </a:p>
          <a:p>
            <a:pPr marL="285750" indent="-285750">
              <a:buFont typeface="Arial" panose="020B0604020202020204" pitchFamily="34" charset="0"/>
              <a:buChar char="•"/>
            </a:pPr>
            <a:endParaRPr lang="en-US" dirty="0"/>
          </a:p>
          <a:p>
            <a:endParaRPr lang="en-US" dirty="0"/>
          </a:p>
          <a:p>
            <a:pPr marL="285750" indent="-285750">
              <a:buFont typeface="Arial" panose="020B0604020202020204" pitchFamily="34" charset="0"/>
              <a:buChar char="•"/>
            </a:pPr>
            <a:r>
              <a:rPr lang="en-US" sz="2400" b="1" dirty="0"/>
              <a:t>Source Files (.</a:t>
            </a:r>
            <a:r>
              <a:rPr lang="en-US" sz="2400" b="1" dirty="0" err="1"/>
              <a:t>cpp</a:t>
            </a:r>
            <a:r>
              <a:rPr lang="en-US" sz="2400" b="1" dirty="0"/>
              <a:t>)</a:t>
            </a:r>
            <a:r>
              <a:rPr lang="en-US" sz="2400" dirty="0"/>
              <a:t> </a:t>
            </a:r>
          </a:p>
          <a:p>
            <a:r>
              <a:rPr lang="en-US" sz="2000" dirty="0"/>
              <a:t>Source files contain the full implementation of the functions and classes declared in the header files. This is where the actual logic and functionality of the program resides.</a:t>
            </a:r>
          </a:p>
          <a:p>
            <a:pPr marL="285750" indent="-285750">
              <a:buFont typeface="Arial" panose="020B0604020202020204" pitchFamily="34" charset="0"/>
              <a:buChar char="•"/>
            </a:pPr>
            <a:endParaRPr lang="en-US" sz="2000" dirty="0"/>
          </a:p>
          <a:p>
            <a:endParaRPr lang="en-US" dirty="0"/>
          </a:p>
          <a:p>
            <a:pPr marL="285750" indent="-285750">
              <a:buFont typeface="Arial" panose="020B0604020202020204" pitchFamily="34" charset="0"/>
              <a:buChar char="•"/>
            </a:pPr>
            <a:r>
              <a:rPr lang="en-US" sz="2400" b="1" dirty="0"/>
              <a:t>Why separate Header and Source Files?</a:t>
            </a:r>
            <a:r>
              <a:rPr lang="en-US" sz="2400" dirty="0"/>
              <a:t> </a:t>
            </a:r>
          </a:p>
          <a:p>
            <a:r>
              <a:rPr lang="en-US" sz="2000" dirty="0"/>
              <a:t>Separating the code into multiple files allows team members to work independently without conflicts. It also improves code maintainability, reduces compilation time, and makes debugging significantly easier by isolating each component of the system.</a:t>
            </a:r>
          </a:p>
        </p:txBody>
      </p:sp>
    </p:spTree>
    <p:extLst>
      <p:ext uri="{BB962C8B-B14F-4D97-AF65-F5344CB8AC3E}">
        <p14:creationId xmlns:p14="http://schemas.microsoft.com/office/powerpoint/2010/main" val="41430706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854CFE9-0DEC-7DC3-97A7-F20626E514B7}"/>
              </a:ext>
            </a:extLst>
          </p:cNvPr>
          <p:cNvSpPr txBox="1"/>
          <p:nvPr/>
        </p:nvSpPr>
        <p:spPr>
          <a:xfrm>
            <a:off x="111760" y="213360"/>
            <a:ext cx="11501120" cy="2800767"/>
          </a:xfrm>
          <a:prstGeom prst="rect">
            <a:avLst/>
          </a:prstGeom>
          <a:noFill/>
        </p:spPr>
        <p:txBody>
          <a:bodyPr wrap="square" rtlCol="0">
            <a:spAutoFit/>
          </a:bodyPr>
          <a:lstStyle/>
          <a:p>
            <a:r>
              <a:rPr lang="en-US" sz="2400" dirty="0"/>
              <a:t>Why Vector over Array?</a:t>
            </a:r>
            <a:endParaRPr lang="ar-EG" sz="2400" dirty="0"/>
          </a:p>
          <a:p>
            <a:endParaRPr lang="ar-EG" dirty="0"/>
          </a:p>
          <a:p>
            <a:r>
              <a:rPr lang="en-US" sz="2000" dirty="0"/>
              <a:t>During the research phase of our project, we identified a critical limitation of standard C++ arrays: their size must be defined at compile time and cannot be modified during runtime. In the context of a game engine, where the number of active entities — including players, enemies, and projectiles — changes dynamically throughout gameplay, this constraint is unacceptable.</a:t>
            </a:r>
            <a:endParaRPr lang="ar-EG" sz="2000" dirty="0"/>
          </a:p>
          <a:p>
            <a:endParaRPr lang="ar-EG" dirty="0"/>
          </a:p>
          <a:p>
            <a:endParaRPr lang="ar-EG" dirty="0"/>
          </a:p>
          <a:p>
            <a:endParaRPr lang="en-US" dirty="0"/>
          </a:p>
        </p:txBody>
      </p:sp>
      <p:sp>
        <p:nvSpPr>
          <p:cNvPr id="5" name="Rectangle 3">
            <a:extLst>
              <a:ext uri="{FF2B5EF4-FFF2-40B4-BE49-F238E27FC236}">
                <a16:creationId xmlns:a16="http://schemas.microsoft.com/office/drawing/2014/main" id="{7A3DD66E-B8AC-7545-064A-D1F3B66481E6}"/>
              </a:ext>
            </a:extLst>
          </p:cNvPr>
          <p:cNvSpPr>
            <a:spLocks noChangeArrowheads="1"/>
          </p:cNvSpPr>
          <p:nvPr/>
        </p:nvSpPr>
        <p:spPr bwMode="auto">
          <a:xfrm>
            <a:off x="182880" y="2373290"/>
            <a:ext cx="10881360" cy="11387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chemeClr val="tx1"/>
                </a:solidFill>
                <a:effectLst/>
                <a:latin typeface="Arial" panose="020B0604020202020204" pitchFamily="34" charset="0"/>
              </a:rPr>
              <a:t>We therefore adopted </a:t>
            </a:r>
            <a:r>
              <a:rPr kumimoji="0" lang="en-US" altLang="en-US" sz="2800" b="0" i="0" u="none" strike="noStrike" cap="none" normalizeH="0" baseline="0" dirty="0">
                <a:ln>
                  <a:noFill/>
                </a:ln>
                <a:solidFill>
                  <a:schemeClr val="tx1"/>
                </a:solidFill>
                <a:effectLst/>
                <a:latin typeface="Arial Unicode MS"/>
              </a:rPr>
              <a:t>vector</a:t>
            </a:r>
            <a:r>
              <a:rPr kumimoji="0" lang="en-US" altLang="en-US" sz="2000" b="0" i="0" u="none" strike="noStrike" cap="none" normalizeH="0" baseline="0" dirty="0">
                <a:ln>
                  <a:noFill/>
                </a:ln>
                <a:solidFill>
                  <a:schemeClr val="tx1"/>
                </a:solidFill>
                <a:effectLst/>
              </a:rPr>
              <a:t> from the C++ Standard Template Library, which provides a dynamically resizable array. This allows the engine to efficiently manage game objects in real time, adding and removing entities as needed without any predefined size restrictions. </a:t>
            </a:r>
            <a:endParaRPr kumimoji="0" lang="en-US" altLang="en-US" sz="2000" b="0" i="0" u="none" strike="noStrike" cap="none" normalizeH="0" baseline="0" dirty="0">
              <a:ln>
                <a:noFill/>
              </a:ln>
              <a:solidFill>
                <a:schemeClr val="tx1"/>
              </a:solidFill>
              <a:effectLst/>
              <a:latin typeface="Arial" panose="020B0604020202020204" pitchFamily="34" charset="0"/>
            </a:endParaRPr>
          </a:p>
        </p:txBody>
      </p:sp>
      <p:graphicFrame>
        <p:nvGraphicFramePr>
          <p:cNvPr id="6" name="Table 5">
            <a:extLst>
              <a:ext uri="{FF2B5EF4-FFF2-40B4-BE49-F238E27FC236}">
                <a16:creationId xmlns:a16="http://schemas.microsoft.com/office/drawing/2014/main" id="{D272F438-3E36-1B80-4F3D-DA15073F80D1}"/>
              </a:ext>
            </a:extLst>
          </p:cNvPr>
          <p:cNvGraphicFramePr>
            <a:graphicFrameLocks noGrp="1"/>
          </p:cNvGraphicFramePr>
          <p:nvPr>
            <p:extLst>
              <p:ext uri="{D42A27DB-BD31-4B8C-83A1-F6EECF244321}">
                <p14:modId xmlns:p14="http://schemas.microsoft.com/office/powerpoint/2010/main" val="933438531"/>
              </p:ext>
            </p:extLst>
          </p:nvPr>
        </p:nvGraphicFramePr>
        <p:xfrm>
          <a:off x="711200" y="4155440"/>
          <a:ext cx="10500360" cy="1735616"/>
        </p:xfrm>
        <a:graphic>
          <a:graphicData uri="http://schemas.openxmlformats.org/drawingml/2006/table">
            <a:tbl>
              <a:tblPr>
                <a:tableStyleId>{5940675A-B579-460E-94D1-54222C63F5DA}</a:tableStyleId>
              </a:tblPr>
              <a:tblGrid>
                <a:gridCol w="5250180">
                  <a:extLst>
                    <a:ext uri="{9D8B030D-6E8A-4147-A177-3AD203B41FA5}">
                      <a16:colId xmlns:a16="http://schemas.microsoft.com/office/drawing/2014/main" val="1086562723"/>
                    </a:ext>
                  </a:extLst>
                </a:gridCol>
                <a:gridCol w="5250180">
                  <a:extLst>
                    <a:ext uri="{9D8B030D-6E8A-4147-A177-3AD203B41FA5}">
                      <a16:colId xmlns:a16="http://schemas.microsoft.com/office/drawing/2014/main" val="1823292943"/>
                    </a:ext>
                  </a:extLst>
                </a:gridCol>
              </a:tblGrid>
              <a:tr h="433904">
                <a:tc>
                  <a:txBody>
                    <a:bodyPr/>
                    <a:lstStyle/>
                    <a:p>
                      <a:pPr algn="ctr"/>
                      <a:r>
                        <a:rPr lang="en-US" dirty="0">
                          <a:solidFill>
                            <a:schemeClr val="bg1"/>
                          </a:solidFill>
                        </a:rPr>
                        <a:t>Array</a:t>
                      </a:r>
                    </a:p>
                  </a:txBody>
                  <a:tcPr anchor="ctr">
                    <a:solidFill>
                      <a:schemeClr val="bg2">
                        <a:lumMod val="25000"/>
                        <a:lumOff val="75000"/>
                      </a:schemeClr>
                    </a:solidFill>
                  </a:tcPr>
                </a:tc>
                <a:tc>
                  <a:txBody>
                    <a:bodyPr/>
                    <a:lstStyle/>
                    <a:p>
                      <a:pPr algn="ctr"/>
                      <a:r>
                        <a:rPr lang="en-US" dirty="0">
                          <a:solidFill>
                            <a:schemeClr val="bg1"/>
                          </a:solidFill>
                        </a:rPr>
                        <a:t>Vector</a:t>
                      </a:r>
                    </a:p>
                  </a:txBody>
                  <a:tcPr anchor="ctr">
                    <a:solidFill>
                      <a:schemeClr val="bg2">
                        <a:lumMod val="25000"/>
                        <a:lumOff val="75000"/>
                      </a:schemeClr>
                    </a:solidFill>
                  </a:tcPr>
                </a:tc>
                <a:extLst>
                  <a:ext uri="{0D108BD9-81ED-4DB2-BD59-A6C34878D82A}">
                    <a16:rowId xmlns:a16="http://schemas.microsoft.com/office/drawing/2014/main" val="2796590505"/>
                  </a:ext>
                </a:extLst>
              </a:tr>
              <a:tr h="433904">
                <a:tc>
                  <a:txBody>
                    <a:bodyPr/>
                    <a:lstStyle/>
                    <a:p>
                      <a:pPr algn="ctr"/>
                      <a:r>
                        <a:rPr lang="en-US"/>
                        <a:t>Fixed size</a:t>
                      </a:r>
                    </a:p>
                  </a:txBody>
                  <a:tcPr anchor="ctr"/>
                </a:tc>
                <a:tc>
                  <a:txBody>
                    <a:bodyPr/>
                    <a:lstStyle/>
                    <a:p>
                      <a:pPr algn="ctr"/>
                      <a:r>
                        <a:rPr lang="en-US" dirty="0"/>
                        <a:t>Dynamic size</a:t>
                      </a:r>
                    </a:p>
                  </a:txBody>
                  <a:tcPr anchor="ctr"/>
                </a:tc>
                <a:extLst>
                  <a:ext uri="{0D108BD9-81ED-4DB2-BD59-A6C34878D82A}">
                    <a16:rowId xmlns:a16="http://schemas.microsoft.com/office/drawing/2014/main" val="1902152843"/>
                  </a:ext>
                </a:extLst>
              </a:tr>
              <a:tr h="433904">
                <a:tc>
                  <a:txBody>
                    <a:bodyPr/>
                    <a:lstStyle/>
                    <a:p>
                      <a:pPr algn="ctr"/>
                      <a:r>
                        <a:rPr lang="en-US"/>
                        <a:t>Defined at compile time</a:t>
                      </a:r>
                    </a:p>
                  </a:txBody>
                  <a:tcPr anchor="ctr"/>
                </a:tc>
                <a:tc>
                  <a:txBody>
                    <a:bodyPr/>
                    <a:lstStyle/>
                    <a:p>
                      <a:pPr algn="ctr"/>
                      <a:r>
                        <a:rPr lang="en-US"/>
                        <a:t>Resizes at runtime</a:t>
                      </a:r>
                    </a:p>
                  </a:txBody>
                  <a:tcPr anchor="ctr"/>
                </a:tc>
                <a:extLst>
                  <a:ext uri="{0D108BD9-81ED-4DB2-BD59-A6C34878D82A}">
                    <a16:rowId xmlns:a16="http://schemas.microsoft.com/office/drawing/2014/main" val="3192520683"/>
                  </a:ext>
                </a:extLst>
              </a:tr>
              <a:tr h="433904">
                <a:tc>
                  <a:txBody>
                    <a:bodyPr/>
                    <a:lstStyle/>
                    <a:p>
                      <a:pPr algn="ctr"/>
                      <a:r>
                        <a:rPr lang="en-US"/>
                        <a:t>Cannot add/remove</a:t>
                      </a:r>
                    </a:p>
                  </a:txBody>
                  <a:tcPr anchor="ctr"/>
                </a:tc>
                <a:tc>
                  <a:txBody>
                    <a:bodyPr/>
                    <a:lstStyle/>
                    <a:p>
                      <a:pPr algn="ctr"/>
                      <a:r>
                        <a:rPr lang="en-US" dirty="0"/>
                        <a:t>Add/remove freely</a:t>
                      </a:r>
                    </a:p>
                  </a:txBody>
                  <a:tcPr anchor="ctr"/>
                </a:tc>
                <a:extLst>
                  <a:ext uri="{0D108BD9-81ED-4DB2-BD59-A6C34878D82A}">
                    <a16:rowId xmlns:a16="http://schemas.microsoft.com/office/drawing/2014/main" val="79600610"/>
                  </a:ext>
                </a:extLst>
              </a:tr>
            </a:tbl>
          </a:graphicData>
        </a:graphic>
      </p:graphicFrame>
    </p:spTree>
    <p:extLst>
      <p:ext uri="{BB962C8B-B14F-4D97-AF65-F5344CB8AC3E}">
        <p14:creationId xmlns:p14="http://schemas.microsoft.com/office/powerpoint/2010/main" val="310084521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3A418E6B-C5F0-4B95-8D77-61E3EF3B5DF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106</TotalTime>
  <Words>275</Words>
  <Application>Microsoft Office PowerPoint</Application>
  <PresentationFormat>Widescreen</PresentationFormat>
  <Paragraphs>26</Paragraphs>
  <Slides>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vt:i4>
      </vt:variant>
    </vt:vector>
  </HeadingPairs>
  <TitlesOfParts>
    <vt:vector size="10" baseType="lpstr">
      <vt:lpstr>Aptos</vt:lpstr>
      <vt:lpstr>Aptos Display</vt:lpstr>
      <vt:lpstr>Arial</vt:lpstr>
      <vt:lpstr>Arial Unicode MS</vt:lpstr>
      <vt:lpstr>Playbill</vt:lpstr>
      <vt:lpstr>Office Theme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emam 0</dc:creator>
  <cp:lastModifiedBy>emam 0</cp:lastModifiedBy>
  <cp:revision>2</cp:revision>
  <dcterms:created xsi:type="dcterms:W3CDTF">2026-03-21T07:17:00Z</dcterms:created>
  <dcterms:modified xsi:type="dcterms:W3CDTF">2026-03-21T09:03:53Z</dcterms:modified>
</cp:coreProperties>
</file>