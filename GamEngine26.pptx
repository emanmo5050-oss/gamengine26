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7" r:id="rId3"/>
    <p:sldId id="258" r:id="rId4"/>
    <p:sldId id="261" r:id="rId5"/>
    <p:sldId id="264" r:id="rId6"/>
    <p:sldId id="265" r:id="rId7"/>
    <p:sldId id="262" r:id="rId8"/>
    <p:sldId id="263" r:id="rId9"/>
    <p:sldId id="259"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A8560"/>
    <a:srgbClr val="191919"/>
    <a:srgbClr val="A6CAEC"/>
    <a:srgbClr val="131313"/>
    <a:srgbClr val="262626"/>
    <a:srgbClr val="D89D72"/>
    <a:srgbClr val="C78864"/>
    <a:srgbClr val="111111"/>
    <a:srgbClr val="0C0C0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7AE815-693F-4F5F-8703-02B554464B01}" type="datetimeFigureOut">
              <a:rPr lang="en-US" smtClean="0"/>
              <a:t>4/14/2026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C9C285-442B-4AAF-82B6-6A35F8C9930B}" type="slidenum">
              <a:rPr lang="en-US" smtClean="0"/>
              <a:t>‹#›</a:t>
            </a:fld>
            <a:endParaRPr lang="en-US"/>
          </a:p>
        </p:txBody>
      </p:sp>
    </p:spTree>
    <p:extLst>
      <p:ext uri="{BB962C8B-B14F-4D97-AF65-F5344CB8AC3E}">
        <p14:creationId xmlns:p14="http://schemas.microsoft.com/office/powerpoint/2010/main" val="3158485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C9C285-442B-4AAF-82B6-6A35F8C9930B}" type="slidenum">
              <a:rPr lang="en-US" smtClean="0"/>
              <a:t>1</a:t>
            </a:fld>
            <a:endParaRPr lang="en-US"/>
          </a:p>
        </p:txBody>
      </p:sp>
    </p:spTree>
    <p:extLst>
      <p:ext uri="{BB962C8B-B14F-4D97-AF65-F5344CB8AC3E}">
        <p14:creationId xmlns:p14="http://schemas.microsoft.com/office/powerpoint/2010/main" val="4218117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C9C285-442B-4AAF-82B6-6A35F8C9930B}" type="slidenum">
              <a:rPr lang="en-US" smtClean="0"/>
              <a:t>7</a:t>
            </a:fld>
            <a:endParaRPr lang="en-US"/>
          </a:p>
        </p:txBody>
      </p:sp>
    </p:spTree>
    <p:extLst>
      <p:ext uri="{BB962C8B-B14F-4D97-AF65-F5344CB8AC3E}">
        <p14:creationId xmlns:p14="http://schemas.microsoft.com/office/powerpoint/2010/main" val="1142093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8D2C47-7D4F-4A0D-827F-889BE69F5D32}"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2435357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8D2C47-7D4F-4A0D-827F-889BE69F5D32}"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4108533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8D2C47-7D4F-4A0D-827F-889BE69F5D32}"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1562743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8D2C47-7D4F-4A0D-827F-889BE69F5D32}"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874077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8D2C47-7D4F-4A0D-827F-889BE69F5D32}" type="datetimeFigureOut">
              <a:rPr lang="en-US" smtClean="0"/>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4247881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8D2C47-7D4F-4A0D-827F-889BE69F5D32}" type="datetimeFigureOut">
              <a:rPr lang="en-US" smtClean="0"/>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260154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8D2C47-7D4F-4A0D-827F-889BE69F5D32}" type="datetimeFigureOut">
              <a:rPr lang="en-US" smtClean="0"/>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2327963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8D2C47-7D4F-4A0D-827F-889BE69F5D32}"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3491661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8D2C47-7D4F-4A0D-827F-889BE69F5D32}"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2026726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8D2C47-7D4F-4A0D-827F-889BE69F5D32}"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3098497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8D2C47-7D4F-4A0D-827F-889BE69F5D32}"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2AAEE8-469A-4969-A3A5-97569D77B571}" type="slidenum">
              <a:rPr lang="en-US" smtClean="0"/>
              <a:t>‹#›</a:t>
            </a:fld>
            <a:endParaRPr lang="en-US"/>
          </a:p>
        </p:txBody>
      </p:sp>
    </p:spTree>
    <p:extLst>
      <p:ext uri="{BB962C8B-B14F-4D97-AF65-F5344CB8AC3E}">
        <p14:creationId xmlns:p14="http://schemas.microsoft.com/office/powerpoint/2010/main" val="416767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D88D2C47-7D4F-4A0D-827F-889BE69F5D32}" type="datetimeFigureOut">
              <a:rPr lang="en-US" smtClean="0"/>
              <a:t>4/14/2026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5B2AAEE8-469A-4969-A3A5-97569D77B571}" type="slidenum">
              <a:rPr lang="en-US" smtClean="0"/>
              <a:t>‹#›</a:t>
            </a:fld>
            <a:endParaRPr lang="en-US"/>
          </a:p>
        </p:txBody>
      </p:sp>
    </p:spTree>
    <p:extLst>
      <p:ext uri="{BB962C8B-B14F-4D97-AF65-F5344CB8AC3E}">
        <p14:creationId xmlns:p14="http://schemas.microsoft.com/office/powerpoint/2010/main" val="224222393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13" Type="http://schemas.openxmlformats.org/officeDocument/2006/relationships/image" Target="../media/image11.jpg"/><Relationship Id="rId18" Type="http://schemas.openxmlformats.org/officeDocument/2006/relationships/image" Target="../media/image16.jpg"/><Relationship Id="rId3" Type="http://schemas.openxmlformats.org/officeDocument/2006/relationships/image" Target="../media/image1.jpg"/><Relationship Id="rId7" Type="http://schemas.openxmlformats.org/officeDocument/2006/relationships/image" Target="../media/image5.jpg"/><Relationship Id="rId12" Type="http://schemas.openxmlformats.org/officeDocument/2006/relationships/image" Target="../media/image10.jpg"/><Relationship Id="rId17" Type="http://schemas.openxmlformats.org/officeDocument/2006/relationships/image" Target="../media/image15.jpg"/><Relationship Id="rId2" Type="http://schemas.openxmlformats.org/officeDocument/2006/relationships/notesSlide" Target="../notesSlides/notesSlide1.xml"/><Relationship Id="rId16" Type="http://schemas.openxmlformats.org/officeDocument/2006/relationships/image" Target="../media/image14.jpg"/><Relationship Id="rId1" Type="http://schemas.openxmlformats.org/officeDocument/2006/relationships/slideLayout" Target="../slideLayouts/slideLayout1.xml"/><Relationship Id="rId6" Type="http://schemas.openxmlformats.org/officeDocument/2006/relationships/image" Target="../media/image4.jpg"/><Relationship Id="rId11" Type="http://schemas.openxmlformats.org/officeDocument/2006/relationships/image" Target="../media/image9.jpg"/><Relationship Id="rId5" Type="http://schemas.openxmlformats.org/officeDocument/2006/relationships/image" Target="../media/image3.jpg"/><Relationship Id="rId15" Type="http://schemas.openxmlformats.org/officeDocument/2006/relationships/image" Target="../media/image13.jpg"/><Relationship Id="rId10" Type="http://schemas.openxmlformats.org/officeDocument/2006/relationships/image" Target="../media/image8.jpg"/><Relationship Id="rId4" Type="http://schemas.openxmlformats.org/officeDocument/2006/relationships/image" Target="../media/image2.jpg"/><Relationship Id="rId9" Type="http://schemas.openxmlformats.org/officeDocument/2006/relationships/image" Target="../media/image7.jpg"/><Relationship Id="rId14" Type="http://schemas.openxmlformats.org/officeDocument/2006/relationships/image" Target="../media/image12.jpg"/></Relationships>
</file>

<file path=ppt/slides/_rels/slide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Cartoon characters in a room">
            <a:extLst>
              <a:ext uri="{FF2B5EF4-FFF2-40B4-BE49-F238E27FC236}">
                <a16:creationId xmlns:a16="http://schemas.microsoft.com/office/drawing/2014/main" id="{7A5D33E7-C495-2463-E5D9-74B8B74994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0498386">
            <a:off x="8242705" y="2102665"/>
            <a:ext cx="2564092" cy="3518452"/>
          </a:xfrm>
          <a:prstGeom prst="rect">
            <a:avLst/>
          </a:prstGeom>
        </p:spPr>
      </p:pic>
      <p:pic>
        <p:nvPicPr>
          <p:cNvPr id="11" name="Picture 10" descr="A cartoon pandas holding a torch&#10;&#10;AI-generated content may be incorrect.">
            <a:extLst>
              <a:ext uri="{FF2B5EF4-FFF2-40B4-BE49-F238E27FC236}">
                <a16:creationId xmlns:a16="http://schemas.microsoft.com/office/drawing/2014/main" id="{6B4864CE-152B-2531-8903-7A81D1B325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491631">
            <a:off x="10831592" y="1949198"/>
            <a:ext cx="2531626" cy="3448878"/>
          </a:xfrm>
          <a:prstGeom prst="rect">
            <a:avLst/>
          </a:prstGeom>
        </p:spPr>
      </p:pic>
      <p:pic>
        <p:nvPicPr>
          <p:cNvPr id="15" name="Picture 14" descr="A video game of a video game&#10;&#10;AI-generated content may be incorrect.">
            <a:extLst>
              <a:ext uri="{FF2B5EF4-FFF2-40B4-BE49-F238E27FC236}">
                <a16:creationId xmlns:a16="http://schemas.microsoft.com/office/drawing/2014/main" id="{7A57DC15-2DB0-F820-94E1-B0F6062233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0419282">
            <a:off x="1752811" y="-901669"/>
            <a:ext cx="2576209" cy="3492229"/>
          </a:xfrm>
          <a:prstGeom prst="rect">
            <a:avLst/>
          </a:prstGeom>
        </p:spPr>
      </p:pic>
      <p:pic>
        <p:nvPicPr>
          <p:cNvPr id="17" name="Picture 16" descr="A video game with a couple of characters">
            <a:extLst>
              <a:ext uri="{FF2B5EF4-FFF2-40B4-BE49-F238E27FC236}">
                <a16:creationId xmlns:a16="http://schemas.microsoft.com/office/drawing/2014/main" id="{18A672A9-50E2-1815-0EEF-63EA6A6F94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0499389">
            <a:off x="9782723" y="-1351735"/>
            <a:ext cx="2581850" cy="3453321"/>
          </a:xfrm>
          <a:prstGeom prst="rect">
            <a:avLst/>
          </a:prstGeom>
        </p:spPr>
      </p:pic>
      <p:pic>
        <p:nvPicPr>
          <p:cNvPr id="23" name="Picture 22" descr="A video game screen with mountains and text&#10;&#10;AI-generated content may be incorrect.">
            <a:extLst>
              <a:ext uri="{FF2B5EF4-FFF2-40B4-BE49-F238E27FC236}">
                <a16:creationId xmlns:a16="http://schemas.microsoft.com/office/drawing/2014/main" id="{F33E34E3-EED1-625F-8713-99488B2F3C3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20460063">
            <a:off x="318083" y="2879831"/>
            <a:ext cx="2606338" cy="3552497"/>
          </a:xfrm>
          <a:prstGeom prst="rect">
            <a:avLst/>
          </a:prstGeom>
        </p:spPr>
      </p:pic>
      <p:pic>
        <p:nvPicPr>
          <p:cNvPr id="25" name="Picture 24" descr="A video game with a dinosaur and cactus">
            <a:extLst>
              <a:ext uri="{FF2B5EF4-FFF2-40B4-BE49-F238E27FC236}">
                <a16:creationId xmlns:a16="http://schemas.microsoft.com/office/drawing/2014/main" id="{4AC8FB91-6268-428E-C846-EA1E0078CA2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0438457">
            <a:off x="-777763" y="-334098"/>
            <a:ext cx="2564275" cy="3476315"/>
          </a:xfrm>
          <a:prstGeom prst="rect">
            <a:avLst/>
          </a:prstGeom>
        </p:spPr>
      </p:pic>
      <p:pic>
        <p:nvPicPr>
          <p:cNvPr id="27" name="Picture 26" descr="A video game with a maze&#10;&#10;AI-generated content may be incorrect.">
            <a:extLst>
              <a:ext uri="{FF2B5EF4-FFF2-40B4-BE49-F238E27FC236}">
                <a16:creationId xmlns:a16="http://schemas.microsoft.com/office/drawing/2014/main" id="{F6D6D98C-1691-17C8-BBAD-753C637750A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0525831">
            <a:off x="9325926" y="5444357"/>
            <a:ext cx="2603317" cy="3499946"/>
          </a:xfrm>
          <a:prstGeom prst="rect">
            <a:avLst/>
          </a:prstGeom>
        </p:spPr>
      </p:pic>
      <p:pic>
        <p:nvPicPr>
          <p:cNvPr id="7" name="Picture 6" descr="A group of cartoon animals&#10;&#10;AI-generated content may be incorrect.">
            <a:extLst>
              <a:ext uri="{FF2B5EF4-FFF2-40B4-BE49-F238E27FC236}">
                <a16:creationId xmlns:a16="http://schemas.microsoft.com/office/drawing/2014/main" id="{910D21EA-6EEB-71B4-5833-201281ADEDD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20492125">
            <a:off x="4454352" y="-860967"/>
            <a:ext cx="2710180" cy="3505764"/>
          </a:xfrm>
          <a:prstGeom prst="rect">
            <a:avLst/>
          </a:prstGeom>
        </p:spPr>
      </p:pic>
      <p:pic>
        <p:nvPicPr>
          <p:cNvPr id="13" name="Picture 12" descr="A group of pandas in a field&#10;&#10;AI-generated content may be incorrect.">
            <a:extLst>
              <a:ext uri="{FF2B5EF4-FFF2-40B4-BE49-F238E27FC236}">
                <a16:creationId xmlns:a16="http://schemas.microsoft.com/office/drawing/2014/main" id="{8272C3C2-D943-7885-112C-0349357CFAA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rot="20473331">
            <a:off x="7177772" y="-1165719"/>
            <a:ext cx="2547216" cy="3473984"/>
          </a:xfrm>
          <a:prstGeom prst="rect">
            <a:avLst/>
          </a:prstGeom>
        </p:spPr>
      </p:pic>
      <p:pic>
        <p:nvPicPr>
          <p:cNvPr id="5" name="Picture 4" descr="Cartoon penguin waitress holding a tray of food">
            <a:extLst>
              <a:ext uri="{FF2B5EF4-FFF2-40B4-BE49-F238E27FC236}">
                <a16:creationId xmlns:a16="http://schemas.microsoft.com/office/drawing/2014/main" id="{9D9BEDAC-CC57-A533-56B1-D99FC2D6508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rot="20485634">
            <a:off x="5529010" y="2465341"/>
            <a:ext cx="2732090" cy="3478696"/>
          </a:xfrm>
          <a:prstGeom prst="rect">
            <a:avLst/>
          </a:prstGeom>
        </p:spPr>
      </p:pic>
      <p:pic>
        <p:nvPicPr>
          <p:cNvPr id="30" name="Picture 29" descr="A video game cover with cartoon character&#10;&#10;AI-generated content may be incorrect.">
            <a:extLst>
              <a:ext uri="{FF2B5EF4-FFF2-40B4-BE49-F238E27FC236}">
                <a16:creationId xmlns:a16="http://schemas.microsoft.com/office/drawing/2014/main" id="{5EC9E981-449B-6E8A-01A2-A1034504720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rot="20326402">
            <a:off x="-1855075" y="4192718"/>
            <a:ext cx="2533600" cy="3511365"/>
          </a:xfrm>
          <a:prstGeom prst="rect">
            <a:avLst/>
          </a:prstGeom>
        </p:spPr>
      </p:pic>
      <p:pic>
        <p:nvPicPr>
          <p:cNvPr id="32" name="Picture 31" descr="A video game cover&#10;&#10;AI-generated content may be incorrect.">
            <a:extLst>
              <a:ext uri="{FF2B5EF4-FFF2-40B4-BE49-F238E27FC236}">
                <a16:creationId xmlns:a16="http://schemas.microsoft.com/office/drawing/2014/main" id="{47338312-CDFB-FC89-0AE0-C660E05EEBC2}"/>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rot="20472170">
            <a:off x="1380462" y="6245091"/>
            <a:ext cx="2718573" cy="3476979"/>
          </a:xfrm>
          <a:prstGeom prst="rect">
            <a:avLst/>
          </a:prstGeom>
        </p:spPr>
      </p:pic>
      <p:pic>
        <p:nvPicPr>
          <p:cNvPr id="34" name="Picture 33" descr="A group of cartoon characters in space">
            <a:extLst>
              <a:ext uri="{FF2B5EF4-FFF2-40B4-BE49-F238E27FC236}">
                <a16:creationId xmlns:a16="http://schemas.microsoft.com/office/drawing/2014/main" id="{F9718D48-0DC7-9795-21F8-481A3B5879B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rot="20406411">
            <a:off x="3937944" y="5658172"/>
            <a:ext cx="2563061" cy="3563007"/>
          </a:xfrm>
          <a:prstGeom prst="rect">
            <a:avLst/>
          </a:prstGeom>
        </p:spPr>
      </p:pic>
      <p:pic>
        <p:nvPicPr>
          <p:cNvPr id="36" name="Picture 35" descr="A video game cover with a video game character&#10;&#10;AI-generated content may be incorrect.">
            <a:extLst>
              <a:ext uri="{FF2B5EF4-FFF2-40B4-BE49-F238E27FC236}">
                <a16:creationId xmlns:a16="http://schemas.microsoft.com/office/drawing/2014/main" id="{5D02534A-5412-5AE6-2E6E-3F38D588A348}"/>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rot="20480699">
            <a:off x="6687890" y="5746305"/>
            <a:ext cx="2687338" cy="3544841"/>
          </a:xfrm>
          <a:prstGeom prst="rect">
            <a:avLst/>
          </a:prstGeom>
        </p:spPr>
      </p:pic>
      <p:pic>
        <p:nvPicPr>
          <p:cNvPr id="38" name="Picture 37" descr="Cartoon characters standing on top of a pile of chips">
            <a:extLst>
              <a:ext uri="{FF2B5EF4-FFF2-40B4-BE49-F238E27FC236}">
                <a16:creationId xmlns:a16="http://schemas.microsoft.com/office/drawing/2014/main" id="{D6EE8B81-40AB-9B52-3FFF-DAAFAC9CF3A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rot="20463267">
            <a:off x="2870823" y="2410696"/>
            <a:ext cx="2553183" cy="3497694"/>
          </a:xfrm>
          <a:prstGeom prst="rect">
            <a:avLst/>
          </a:prstGeom>
        </p:spPr>
      </p:pic>
      <p:pic>
        <p:nvPicPr>
          <p:cNvPr id="40" name="Picture 39" descr="A poster with cartoon cats&#10;&#10;AI-generated content may be incorrect.">
            <a:extLst>
              <a:ext uri="{FF2B5EF4-FFF2-40B4-BE49-F238E27FC236}">
                <a16:creationId xmlns:a16="http://schemas.microsoft.com/office/drawing/2014/main" id="{8A34CC33-BB28-3F2A-61E5-7554D9A2A60A}"/>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rot="20440102">
            <a:off x="11946581" y="5226268"/>
            <a:ext cx="2304183" cy="3263462"/>
          </a:xfrm>
          <a:prstGeom prst="rect">
            <a:avLst/>
          </a:prstGeom>
        </p:spPr>
      </p:pic>
    </p:spTree>
    <p:extLst>
      <p:ext uri="{BB962C8B-B14F-4D97-AF65-F5344CB8AC3E}">
        <p14:creationId xmlns:p14="http://schemas.microsoft.com/office/powerpoint/2010/main" val="797383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654CCD7-7844-EE67-A3EF-5A3FF9866DEA}"/>
              </a:ext>
            </a:extLst>
          </p:cNvPr>
          <p:cNvPicPr>
            <a:picLocks noChangeAspect="1"/>
          </p:cNvPicPr>
          <p:nvPr/>
        </p:nvPicPr>
        <p:blipFill>
          <a:blip r:embed="rId2"/>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D9350E9E-B0A5-D202-3CC7-522EB4B55F26}"/>
              </a:ext>
            </a:extLst>
          </p:cNvPr>
          <p:cNvSpPr/>
          <p:nvPr/>
        </p:nvSpPr>
        <p:spPr>
          <a:xfrm>
            <a:off x="0" y="0"/>
            <a:ext cx="12192000" cy="6858000"/>
          </a:xfrm>
          <a:prstGeom prst="rect">
            <a:avLst/>
          </a:prstGeom>
          <a:solidFill>
            <a:schemeClr val="bg1">
              <a:alpha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BFC67E6-1169-C0DE-AA26-B4624DACB0A9}"/>
              </a:ext>
            </a:extLst>
          </p:cNvPr>
          <p:cNvSpPr txBox="1"/>
          <p:nvPr/>
        </p:nvSpPr>
        <p:spPr>
          <a:xfrm>
            <a:off x="2286000" y="2306320"/>
            <a:ext cx="9337040" cy="1631216"/>
          </a:xfrm>
          <a:prstGeom prst="rect">
            <a:avLst/>
          </a:prstGeom>
          <a:noFill/>
        </p:spPr>
        <p:txBody>
          <a:bodyPr wrap="square" rtlCol="0">
            <a:spAutoFit/>
          </a:bodyPr>
          <a:lstStyle/>
          <a:p>
            <a:r>
              <a:rPr lang="en-US" sz="10000" dirty="0">
                <a:latin typeface="Playbill" panose="040506030A0602020202" pitchFamily="82" charset="0"/>
              </a:rPr>
              <a:t>Multiplayer Game Engine</a:t>
            </a:r>
          </a:p>
        </p:txBody>
      </p:sp>
    </p:spTree>
    <p:extLst>
      <p:ext uri="{BB962C8B-B14F-4D97-AF65-F5344CB8AC3E}">
        <p14:creationId xmlns:p14="http://schemas.microsoft.com/office/powerpoint/2010/main" val="1772553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639607-7461-E695-490D-9FFD45161805}"/>
              </a:ext>
            </a:extLst>
          </p:cNvPr>
          <p:cNvSpPr txBox="1"/>
          <p:nvPr/>
        </p:nvSpPr>
        <p:spPr>
          <a:xfrm>
            <a:off x="4145280" y="-153125"/>
            <a:ext cx="4155440" cy="1200329"/>
          </a:xfrm>
          <a:prstGeom prst="rect">
            <a:avLst/>
          </a:prstGeom>
          <a:noFill/>
        </p:spPr>
        <p:txBody>
          <a:bodyPr wrap="square" rtlCol="0">
            <a:spAutoFit/>
          </a:bodyPr>
          <a:lstStyle/>
          <a:p>
            <a:r>
              <a:rPr lang="en-US" sz="7200" dirty="0">
                <a:latin typeface="Playbill" panose="040506030A0602020202" pitchFamily="82" charset="0"/>
              </a:rPr>
              <a:t>Project Structure</a:t>
            </a:r>
            <a:endParaRPr lang="en-US" sz="4000" dirty="0">
              <a:latin typeface="Playbill" panose="040506030A0602020202" pitchFamily="82" charset="0"/>
            </a:endParaRPr>
          </a:p>
        </p:txBody>
      </p:sp>
      <p:sp>
        <p:nvSpPr>
          <p:cNvPr id="3" name="TextBox 2">
            <a:extLst>
              <a:ext uri="{FF2B5EF4-FFF2-40B4-BE49-F238E27FC236}">
                <a16:creationId xmlns:a16="http://schemas.microsoft.com/office/drawing/2014/main" id="{75381FF0-B8A6-2BC1-716D-5E0D6F849D3F}"/>
              </a:ext>
            </a:extLst>
          </p:cNvPr>
          <p:cNvSpPr txBox="1"/>
          <p:nvPr/>
        </p:nvSpPr>
        <p:spPr>
          <a:xfrm>
            <a:off x="162560" y="965200"/>
            <a:ext cx="11562080" cy="5509200"/>
          </a:xfrm>
          <a:prstGeom prst="rect">
            <a:avLst/>
          </a:prstGeom>
          <a:noFill/>
        </p:spPr>
        <p:txBody>
          <a:bodyPr wrap="square" rtlCol="0">
            <a:spAutoFit/>
          </a:bodyPr>
          <a:lstStyle/>
          <a:p>
            <a:pPr marL="342900" indent="-342900">
              <a:buFont typeface="Arial" panose="020B0604020202020204" pitchFamily="34" charset="0"/>
              <a:buChar char="•"/>
            </a:pPr>
            <a:r>
              <a:rPr lang="en-US" sz="2400" b="1" dirty="0"/>
              <a:t>Header Files (.h)</a:t>
            </a:r>
            <a:r>
              <a:rPr lang="en-US" sz="2400" dirty="0"/>
              <a:t> </a:t>
            </a:r>
          </a:p>
          <a:p>
            <a:r>
              <a:rPr lang="en-US" sz="2000" dirty="0"/>
              <a:t>Header files contain class declarations, function prototypes, and variable definitions. They serve as an interface that allows other files to access a class without exposing its implementation. Any source file that requires access to a class simply includes its corresponding header file.</a:t>
            </a:r>
          </a:p>
          <a:p>
            <a:endParaRPr lang="en-US" dirty="0"/>
          </a:p>
          <a:p>
            <a:pPr marL="285750" indent="-285750">
              <a:buFont typeface="Arial" panose="020B0604020202020204" pitchFamily="34" charset="0"/>
              <a:buChar char="•"/>
            </a:pPr>
            <a:r>
              <a:rPr lang="en-US" sz="2400" b="1" dirty="0"/>
              <a:t>Source Files (.</a:t>
            </a:r>
            <a:r>
              <a:rPr lang="en-US" sz="2400" b="1" dirty="0" err="1"/>
              <a:t>cpp</a:t>
            </a:r>
            <a:r>
              <a:rPr lang="en-US" sz="2400" b="1" dirty="0"/>
              <a:t>)</a:t>
            </a:r>
            <a:r>
              <a:rPr lang="en-US" sz="2400" dirty="0"/>
              <a:t> </a:t>
            </a:r>
          </a:p>
          <a:p>
            <a:r>
              <a:rPr lang="en-US" sz="2000" dirty="0"/>
              <a:t>Source files contain the full implementation of the functions and classes declared in the header files. This is where the actual logic and functionality of the program resides.</a:t>
            </a:r>
          </a:p>
          <a:p>
            <a:endParaRPr lang="en-US" dirty="0"/>
          </a:p>
          <a:p>
            <a:pPr marL="285750" indent="-285750">
              <a:buFont typeface="Arial" panose="020B0604020202020204" pitchFamily="34" charset="0"/>
              <a:buChar char="•"/>
            </a:pPr>
            <a:r>
              <a:rPr lang="en-US" sz="2400" b="1" dirty="0"/>
              <a:t>Why separate Header and Source Files?</a:t>
            </a:r>
            <a:r>
              <a:rPr lang="en-US" sz="2400" dirty="0"/>
              <a:t> </a:t>
            </a:r>
          </a:p>
          <a:p>
            <a:r>
              <a:rPr lang="en-US" sz="2000" dirty="0"/>
              <a:t>Separating the code into multiple files allows team members to work independently without conflicts. It also improves code maintainability, reduces compilation time, and makes debugging significantly easier by isolating each component of the system.</a:t>
            </a:r>
            <a:endParaRPr lang="ar-EG" sz="2000" dirty="0"/>
          </a:p>
          <a:p>
            <a:endParaRPr lang="ar-EG" sz="2000" dirty="0"/>
          </a:p>
          <a:p>
            <a:pPr marL="342900" indent="-342900">
              <a:buFont typeface="Arial" panose="020B0604020202020204" pitchFamily="34" charset="0"/>
              <a:buChar char="•"/>
            </a:pPr>
            <a:r>
              <a:rPr lang="en-US" sz="2400" b="1" dirty="0"/>
              <a:t>Note</a:t>
            </a:r>
            <a:endParaRPr lang="ar-EG" sz="2400" b="1" dirty="0"/>
          </a:p>
          <a:p>
            <a:r>
              <a:rPr lang="en-US" sz="2000" dirty="0"/>
              <a:t> To align with this modular architecture, the development team was structured into </a:t>
            </a:r>
            <a:r>
              <a:rPr lang="en-US" sz="2000" b="1" dirty="0"/>
              <a:t>3 sub-teams</a:t>
            </a:r>
            <a:r>
              <a:rPr lang="en-US" sz="2000" dirty="0"/>
              <a:t>, each managing specific components independently</a:t>
            </a:r>
          </a:p>
        </p:txBody>
      </p:sp>
    </p:spTree>
    <p:extLst>
      <p:ext uri="{BB962C8B-B14F-4D97-AF65-F5344CB8AC3E}">
        <p14:creationId xmlns:p14="http://schemas.microsoft.com/office/powerpoint/2010/main" val="4143070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D134CE-6E25-F460-E6F3-99019CC09726}"/>
              </a:ext>
            </a:extLst>
          </p:cNvPr>
          <p:cNvSpPr txBox="1"/>
          <p:nvPr/>
        </p:nvSpPr>
        <p:spPr>
          <a:xfrm>
            <a:off x="3048000" y="3244334"/>
            <a:ext cx="6096000" cy="369332"/>
          </a:xfrm>
          <a:prstGeom prst="rect">
            <a:avLst/>
          </a:prstGeom>
          <a:noFill/>
        </p:spPr>
        <p:txBody>
          <a:bodyPr wrap="square">
            <a:spAutoFit/>
          </a:bodyPr>
          <a:lstStyle/>
          <a:p>
            <a:r>
              <a:rPr lang="en-US" dirty="0"/>
              <a:t> </a:t>
            </a:r>
          </a:p>
        </p:txBody>
      </p:sp>
      <p:sp>
        <p:nvSpPr>
          <p:cNvPr id="5" name="TextBox 4">
            <a:extLst>
              <a:ext uri="{FF2B5EF4-FFF2-40B4-BE49-F238E27FC236}">
                <a16:creationId xmlns:a16="http://schemas.microsoft.com/office/drawing/2014/main" id="{9275FE77-94EA-F84B-9D65-FEEAF986A672}"/>
              </a:ext>
            </a:extLst>
          </p:cNvPr>
          <p:cNvSpPr txBox="1"/>
          <p:nvPr/>
        </p:nvSpPr>
        <p:spPr>
          <a:xfrm>
            <a:off x="3048000" y="3244334"/>
            <a:ext cx="6096000" cy="369332"/>
          </a:xfrm>
          <a:prstGeom prst="rect">
            <a:avLst/>
          </a:prstGeom>
          <a:noFill/>
        </p:spPr>
        <p:txBody>
          <a:bodyPr wrap="square">
            <a:spAutoFit/>
          </a:bodyPr>
          <a:lstStyle/>
          <a:p>
            <a:r>
              <a:rPr lang="en-US" dirty="0"/>
              <a:t> </a:t>
            </a:r>
          </a:p>
        </p:txBody>
      </p:sp>
      <p:cxnSp>
        <p:nvCxnSpPr>
          <p:cNvPr id="9" name="Straight Connector 8">
            <a:extLst>
              <a:ext uri="{FF2B5EF4-FFF2-40B4-BE49-F238E27FC236}">
                <a16:creationId xmlns:a16="http://schemas.microsoft.com/office/drawing/2014/main" id="{936F4B95-C4A0-3895-7910-617877439E1C}"/>
              </a:ext>
            </a:extLst>
          </p:cNvPr>
          <p:cNvCxnSpPr>
            <a:cxnSpLocks/>
          </p:cNvCxnSpPr>
          <p:nvPr/>
        </p:nvCxnSpPr>
        <p:spPr>
          <a:xfrm>
            <a:off x="552884" y="162046"/>
            <a:ext cx="0" cy="640594"/>
          </a:xfrm>
          <a:prstGeom prst="line">
            <a:avLst/>
          </a:prstGeom>
          <a:ln w="76200"/>
          <a:effectLst>
            <a:glow rad="101600">
              <a:schemeClr val="accent1">
                <a:satMod val="175000"/>
                <a:alpha val="40000"/>
              </a:schemeClr>
            </a:glow>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48816809-2C05-74CC-8018-1FCB94C12185}"/>
              </a:ext>
            </a:extLst>
          </p:cNvPr>
          <p:cNvSpPr txBox="1"/>
          <p:nvPr/>
        </p:nvSpPr>
        <p:spPr>
          <a:xfrm>
            <a:off x="690880" y="182880"/>
            <a:ext cx="6238240" cy="584775"/>
          </a:xfrm>
          <a:prstGeom prst="rect">
            <a:avLst/>
          </a:prstGeom>
          <a:noFill/>
        </p:spPr>
        <p:txBody>
          <a:bodyPr wrap="square" rtlCol="0">
            <a:spAutoFit/>
          </a:bodyPr>
          <a:lstStyle/>
          <a:p>
            <a:r>
              <a:rPr lang="en-US" sz="3200" b="1" dirty="0">
                <a:latin typeface="Lucida Console" panose="020B0609040504020204" pitchFamily="49" charset="0"/>
              </a:rPr>
              <a:t>THE </a:t>
            </a:r>
            <a:r>
              <a:rPr lang="en-US" sz="3200" b="1" dirty="0">
                <a:solidFill>
                  <a:schemeClr val="accent1">
                    <a:lumMod val="60000"/>
                    <a:lumOff val="40000"/>
                  </a:schemeClr>
                </a:solidFill>
                <a:latin typeface="Lucida Console" panose="020B0609040504020204" pitchFamily="49" charset="0"/>
              </a:rPr>
              <a:t>CORE</a:t>
            </a:r>
            <a:r>
              <a:rPr lang="en-US" sz="3200" b="1" dirty="0">
                <a:latin typeface="Lucida Console" panose="020B0609040504020204" pitchFamily="49" charset="0"/>
              </a:rPr>
              <a:t> ENGINE TEAM</a:t>
            </a:r>
            <a:endParaRPr lang="en-US" sz="3200" dirty="0">
              <a:latin typeface="Lucida Console" panose="020B0609040504020204" pitchFamily="49" charset="0"/>
            </a:endParaRPr>
          </a:p>
        </p:txBody>
      </p:sp>
      <p:sp>
        <p:nvSpPr>
          <p:cNvPr id="12" name="Rectangle: Rounded Corners 11">
            <a:extLst>
              <a:ext uri="{FF2B5EF4-FFF2-40B4-BE49-F238E27FC236}">
                <a16:creationId xmlns:a16="http://schemas.microsoft.com/office/drawing/2014/main" id="{08FFC30F-F444-2410-D572-9C6D404D2E3B}"/>
              </a:ext>
            </a:extLst>
          </p:cNvPr>
          <p:cNvSpPr/>
          <p:nvPr/>
        </p:nvSpPr>
        <p:spPr>
          <a:xfrm>
            <a:off x="193040" y="1402080"/>
            <a:ext cx="3707628" cy="4734560"/>
          </a:xfrm>
          <a:prstGeom prst="roundRect">
            <a:avLst/>
          </a:prstGeom>
          <a:solidFill>
            <a:srgbClr val="1313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
        <p:nvSpPr>
          <p:cNvPr id="13" name="Rectangle: Rounded Corners 12">
            <a:extLst>
              <a:ext uri="{FF2B5EF4-FFF2-40B4-BE49-F238E27FC236}">
                <a16:creationId xmlns:a16="http://schemas.microsoft.com/office/drawing/2014/main" id="{D8DEE9DC-16EE-F983-54FC-1FADFADEE9D7}"/>
              </a:ext>
            </a:extLst>
          </p:cNvPr>
          <p:cNvSpPr/>
          <p:nvPr/>
        </p:nvSpPr>
        <p:spPr>
          <a:xfrm>
            <a:off x="4004841" y="1412240"/>
            <a:ext cx="8034759" cy="4765040"/>
          </a:xfrm>
          <a:prstGeom prst="roundRect">
            <a:avLst/>
          </a:prstGeom>
          <a:solidFill>
            <a:srgbClr val="1313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ptos" panose="02110004020202020204"/>
            </a:endParaRPr>
          </a:p>
        </p:txBody>
      </p:sp>
      <p:sp>
        <p:nvSpPr>
          <p:cNvPr id="15" name="TextBox 14">
            <a:extLst>
              <a:ext uri="{FF2B5EF4-FFF2-40B4-BE49-F238E27FC236}">
                <a16:creationId xmlns:a16="http://schemas.microsoft.com/office/drawing/2014/main" id="{42A6B1AE-0867-7AA0-5CEC-2861BA88AE1D}"/>
              </a:ext>
            </a:extLst>
          </p:cNvPr>
          <p:cNvSpPr txBox="1"/>
          <p:nvPr/>
        </p:nvSpPr>
        <p:spPr>
          <a:xfrm>
            <a:off x="487680" y="2512814"/>
            <a:ext cx="2275840" cy="461665"/>
          </a:xfrm>
          <a:prstGeom prst="rect">
            <a:avLst/>
          </a:prstGeom>
          <a:noFill/>
        </p:spPr>
        <p:txBody>
          <a:bodyPr wrap="square">
            <a:spAutoFit/>
          </a:bodyPr>
          <a:lstStyle/>
          <a:p>
            <a:pPr rtl="0">
              <a:spcBef>
                <a:spcPts val="0"/>
              </a:spcBef>
              <a:spcAft>
                <a:spcPts val="0"/>
              </a:spcAft>
            </a:pPr>
            <a:r>
              <a:rPr lang="en-US" sz="2400" b="1" i="0" u="none" strike="noStrike" dirty="0">
                <a:effectLst/>
                <a:latin typeface="Urbanist"/>
              </a:rPr>
              <a:t>Team Members</a:t>
            </a:r>
            <a:endParaRPr lang="en-US" sz="2400" dirty="0">
              <a:effectLst/>
            </a:endParaRPr>
          </a:p>
        </p:txBody>
      </p:sp>
      <p:pic>
        <p:nvPicPr>
          <p:cNvPr id="1026" name="Picture 2">
            <a:extLst>
              <a:ext uri="{FF2B5EF4-FFF2-40B4-BE49-F238E27FC236}">
                <a16:creationId xmlns:a16="http://schemas.microsoft.com/office/drawing/2014/main" id="{D5645790-A1EA-B2AA-9217-F748B04640A8}"/>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553720" y="3226753"/>
            <a:ext cx="152400" cy="180975"/>
          </a:xfrm>
          <a:prstGeom prst="rect">
            <a:avLst/>
          </a:prstGeom>
          <a:noFill/>
        </p:spPr>
      </p:pic>
      <p:pic>
        <p:nvPicPr>
          <p:cNvPr id="1028" name="Picture 4">
            <a:extLst>
              <a:ext uri="{FF2B5EF4-FFF2-40B4-BE49-F238E27FC236}">
                <a16:creationId xmlns:a16="http://schemas.microsoft.com/office/drawing/2014/main" id="{6F579764-8761-95CD-39CE-316C785B1762}"/>
              </a:ext>
            </a:extLst>
          </p:cNvPr>
          <p:cNvPicPr>
            <a:picLocks noChangeAspect="1" noChangeArrowheads="1"/>
          </p:cNvPicPr>
          <p:nvPr/>
        </p:nvPicPr>
        <p:blipFill>
          <a:blip r:embed="rId2">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533400" y="3612833"/>
            <a:ext cx="152400" cy="18097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362E0E6F-9963-860F-03D4-D6EC838A17A9}"/>
              </a:ext>
            </a:extLst>
          </p:cNvPr>
          <p:cNvSpPr txBox="1"/>
          <p:nvPr/>
        </p:nvSpPr>
        <p:spPr>
          <a:xfrm>
            <a:off x="711200" y="3037840"/>
            <a:ext cx="2540000" cy="883383"/>
          </a:xfrm>
          <a:prstGeom prst="rect">
            <a:avLst/>
          </a:prstGeom>
          <a:noFill/>
        </p:spPr>
        <p:txBody>
          <a:bodyPr wrap="square" rtlCol="0">
            <a:spAutoFit/>
          </a:bodyPr>
          <a:lstStyle/>
          <a:p>
            <a:pPr>
              <a:lnSpc>
                <a:spcPct val="150000"/>
              </a:lnSpc>
            </a:pPr>
            <a:r>
              <a:rPr lang="en-US" dirty="0"/>
              <a:t>Yassin Athula </a:t>
            </a:r>
          </a:p>
          <a:p>
            <a:pPr>
              <a:lnSpc>
                <a:spcPct val="150000"/>
              </a:lnSpc>
            </a:pPr>
            <a:r>
              <a:rPr lang="en-US" dirty="0"/>
              <a:t>Mohraeel Khalaf</a:t>
            </a:r>
          </a:p>
        </p:txBody>
      </p:sp>
      <p:sp>
        <p:nvSpPr>
          <p:cNvPr id="18" name="TextBox 17">
            <a:extLst>
              <a:ext uri="{FF2B5EF4-FFF2-40B4-BE49-F238E27FC236}">
                <a16:creationId xmlns:a16="http://schemas.microsoft.com/office/drawing/2014/main" id="{6ECC455D-0310-5741-D7F4-A84EA8664894}"/>
              </a:ext>
            </a:extLst>
          </p:cNvPr>
          <p:cNvSpPr txBox="1"/>
          <p:nvPr/>
        </p:nvSpPr>
        <p:spPr>
          <a:xfrm>
            <a:off x="4765040" y="1778000"/>
            <a:ext cx="4378960" cy="800219"/>
          </a:xfrm>
          <a:prstGeom prst="rect">
            <a:avLst/>
          </a:prstGeom>
          <a:noFill/>
        </p:spPr>
        <p:txBody>
          <a:bodyPr wrap="square" rtlCol="0">
            <a:spAutoFit/>
          </a:bodyPr>
          <a:lstStyle/>
          <a:p>
            <a:r>
              <a:rPr lang="en-US" sz="2800" b="1" i="0" u="none" strike="noStrike" dirty="0">
                <a:solidFill>
                  <a:schemeClr val="accent4">
                    <a:lumMod val="75000"/>
                  </a:schemeClr>
                </a:solidFill>
                <a:effectLst/>
                <a:latin typeface="Urbanist"/>
              </a:rPr>
              <a:t>Collective Responsibilities</a:t>
            </a:r>
            <a:endParaRPr lang="en-US" sz="2800" dirty="0">
              <a:solidFill>
                <a:schemeClr val="accent4">
                  <a:lumMod val="75000"/>
                </a:schemeClr>
              </a:solidFill>
              <a:effectLst/>
            </a:endParaRPr>
          </a:p>
          <a:p>
            <a:endParaRPr lang="en-US" dirty="0"/>
          </a:p>
        </p:txBody>
      </p:sp>
      <p:sp>
        <p:nvSpPr>
          <p:cNvPr id="23" name="TextBox 22">
            <a:extLst>
              <a:ext uri="{FF2B5EF4-FFF2-40B4-BE49-F238E27FC236}">
                <a16:creationId xmlns:a16="http://schemas.microsoft.com/office/drawing/2014/main" id="{A9101A6F-4A1F-7248-1EFB-CEF500161412}"/>
              </a:ext>
            </a:extLst>
          </p:cNvPr>
          <p:cNvSpPr txBox="1"/>
          <p:nvPr/>
        </p:nvSpPr>
        <p:spPr>
          <a:xfrm>
            <a:off x="4876800" y="2570481"/>
            <a:ext cx="7437120" cy="338554"/>
          </a:xfrm>
          <a:prstGeom prst="rect">
            <a:avLst/>
          </a:prstGeom>
          <a:noFill/>
        </p:spPr>
        <p:txBody>
          <a:bodyPr wrap="square">
            <a:spAutoFit/>
          </a:bodyPr>
          <a:lstStyle/>
          <a:p>
            <a:r>
              <a:rPr lang="en-US" sz="1600" b="1" dirty="0"/>
              <a:t>Game Loop Architecture:</a:t>
            </a:r>
            <a:r>
              <a:rPr lang="en-US" sz="1600" dirty="0"/>
              <a:t> Syncing input, physics, and rendering for stability</a:t>
            </a:r>
          </a:p>
        </p:txBody>
      </p:sp>
      <p:cxnSp>
        <p:nvCxnSpPr>
          <p:cNvPr id="25" name="Straight Arrow Connector 24">
            <a:extLst>
              <a:ext uri="{FF2B5EF4-FFF2-40B4-BE49-F238E27FC236}">
                <a16:creationId xmlns:a16="http://schemas.microsoft.com/office/drawing/2014/main" id="{CD530D50-3A40-6930-45EE-8F7A51DC2822}"/>
              </a:ext>
            </a:extLst>
          </p:cNvPr>
          <p:cNvCxnSpPr>
            <a:cxnSpLocks/>
          </p:cNvCxnSpPr>
          <p:nvPr/>
        </p:nvCxnSpPr>
        <p:spPr>
          <a:xfrm>
            <a:off x="4399280" y="2743200"/>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A8242B21-3D1A-DBC5-46C3-3E7339922942}"/>
              </a:ext>
            </a:extLst>
          </p:cNvPr>
          <p:cNvSpPr txBox="1"/>
          <p:nvPr/>
        </p:nvSpPr>
        <p:spPr>
          <a:xfrm>
            <a:off x="4866640" y="3251200"/>
            <a:ext cx="6959600" cy="338554"/>
          </a:xfrm>
          <a:prstGeom prst="rect">
            <a:avLst/>
          </a:prstGeom>
          <a:noFill/>
        </p:spPr>
        <p:txBody>
          <a:bodyPr wrap="square" rtlCol="0">
            <a:spAutoFit/>
          </a:bodyPr>
          <a:lstStyle/>
          <a:p>
            <a:r>
              <a:rPr lang="en-US" sz="1600" b="1" dirty="0"/>
              <a:t>Entity</a:t>
            </a:r>
            <a:r>
              <a:rPr lang="ar-EG" sz="1600" b="1" dirty="0"/>
              <a:t> </a:t>
            </a:r>
            <a:r>
              <a:rPr lang="en-US" sz="1600" b="1" dirty="0"/>
              <a:t>Manager:</a:t>
            </a:r>
            <a:r>
              <a:rPr lang="en-US" sz="1600" dirty="0"/>
              <a:t> Managing object life-cycles and dynamic memory allocation</a:t>
            </a:r>
          </a:p>
        </p:txBody>
      </p:sp>
      <p:cxnSp>
        <p:nvCxnSpPr>
          <p:cNvPr id="28" name="Straight Arrow Connector 27">
            <a:extLst>
              <a:ext uri="{FF2B5EF4-FFF2-40B4-BE49-F238E27FC236}">
                <a16:creationId xmlns:a16="http://schemas.microsoft.com/office/drawing/2014/main" id="{A72ECEA8-54B1-0D9C-D8F7-25BF469C755F}"/>
              </a:ext>
            </a:extLst>
          </p:cNvPr>
          <p:cNvCxnSpPr>
            <a:cxnSpLocks/>
          </p:cNvCxnSpPr>
          <p:nvPr/>
        </p:nvCxnSpPr>
        <p:spPr>
          <a:xfrm>
            <a:off x="4419600" y="3403600"/>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60484E63-4E10-152F-7CAE-5D9F090A7C00}"/>
              </a:ext>
            </a:extLst>
          </p:cNvPr>
          <p:cNvSpPr txBox="1"/>
          <p:nvPr/>
        </p:nvSpPr>
        <p:spPr>
          <a:xfrm>
            <a:off x="4876800" y="3952240"/>
            <a:ext cx="8219440" cy="338554"/>
          </a:xfrm>
          <a:prstGeom prst="rect">
            <a:avLst/>
          </a:prstGeom>
          <a:noFill/>
        </p:spPr>
        <p:txBody>
          <a:bodyPr wrap="square" rtlCol="0">
            <a:spAutoFit/>
          </a:bodyPr>
          <a:lstStyle/>
          <a:p>
            <a:r>
              <a:rPr lang="en-US" sz="1600" b="1" dirty="0"/>
              <a:t>Physics Engine:</a:t>
            </a:r>
            <a:r>
              <a:rPr lang="en-US" sz="1600" dirty="0"/>
              <a:t> Implementing custom AABB collision detection and resolution</a:t>
            </a:r>
          </a:p>
        </p:txBody>
      </p:sp>
      <p:cxnSp>
        <p:nvCxnSpPr>
          <p:cNvPr id="30" name="Straight Arrow Connector 29">
            <a:extLst>
              <a:ext uri="{FF2B5EF4-FFF2-40B4-BE49-F238E27FC236}">
                <a16:creationId xmlns:a16="http://schemas.microsoft.com/office/drawing/2014/main" id="{4DAD2F3C-6C29-FC8B-F049-8E0A5EACA2DE}"/>
              </a:ext>
            </a:extLst>
          </p:cNvPr>
          <p:cNvCxnSpPr>
            <a:cxnSpLocks/>
          </p:cNvCxnSpPr>
          <p:nvPr/>
        </p:nvCxnSpPr>
        <p:spPr>
          <a:xfrm>
            <a:off x="4480560" y="4836160"/>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DCB5390F-ACB3-6BA7-A711-C1C859363B3A}"/>
              </a:ext>
            </a:extLst>
          </p:cNvPr>
          <p:cNvCxnSpPr>
            <a:cxnSpLocks/>
          </p:cNvCxnSpPr>
          <p:nvPr/>
        </p:nvCxnSpPr>
        <p:spPr>
          <a:xfrm>
            <a:off x="4450080" y="4135120"/>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BCB1698-00C5-4DA9-DDF3-AEA468631A88}"/>
              </a:ext>
            </a:extLst>
          </p:cNvPr>
          <p:cNvSpPr txBox="1"/>
          <p:nvPr/>
        </p:nvSpPr>
        <p:spPr>
          <a:xfrm>
            <a:off x="4826000" y="4673601"/>
            <a:ext cx="7101840" cy="338554"/>
          </a:xfrm>
          <a:prstGeom prst="rect">
            <a:avLst/>
          </a:prstGeom>
          <a:noFill/>
        </p:spPr>
        <p:txBody>
          <a:bodyPr wrap="square" rtlCol="0">
            <a:spAutoFit/>
          </a:bodyPr>
          <a:lstStyle/>
          <a:p>
            <a:r>
              <a:rPr lang="en-US" sz="1600" b="1" dirty="0"/>
              <a:t>System Integration:</a:t>
            </a:r>
            <a:r>
              <a:rPr lang="en-US" sz="1600" dirty="0"/>
              <a:t> Connecting core modules with Gameplay and Networking</a:t>
            </a:r>
          </a:p>
        </p:txBody>
      </p:sp>
    </p:spTree>
    <p:extLst>
      <p:ext uri="{BB962C8B-B14F-4D97-AF65-F5344CB8AC3E}">
        <p14:creationId xmlns:p14="http://schemas.microsoft.com/office/powerpoint/2010/main" val="80004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D134CE-6E25-F460-E6F3-99019CC09726}"/>
              </a:ext>
            </a:extLst>
          </p:cNvPr>
          <p:cNvSpPr txBox="1"/>
          <p:nvPr/>
        </p:nvSpPr>
        <p:spPr>
          <a:xfrm>
            <a:off x="3048000" y="3244334"/>
            <a:ext cx="6096000" cy="369332"/>
          </a:xfrm>
          <a:prstGeom prst="rect">
            <a:avLst/>
          </a:prstGeom>
          <a:noFill/>
        </p:spPr>
        <p:txBody>
          <a:bodyPr wrap="square">
            <a:spAutoFit/>
          </a:bodyPr>
          <a:lstStyle/>
          <a:p>
            <a:r>
              <a:rPr lang="en-US" dirty="0"/>
              <a:t> </a:t>
            </a:r>
          </a:p>
        </p:txBody>
      </p:sp>
      <p:sp>
        <p:nvSpPr>
          <p:cNvPr id="5" name="TextBox 4">
            <a:extLst>
              <a:ext uri="{FF2B5EF4-FFF2-40B4-BE49-F238E27FC236}">
                <a16:creationId xmlns:a16="http://schemas.microsoft.com/office/drawing/2014/main" id="{9275FE77-94EA-F84B-9D65-FEEAF986A672}"/>
              </a:ext>
            </a:extLst>
          </p:cNvPr>
          <p:cNvSpPr txBox="1"/>
          <p:nvPr/>
        </p:nvSpPr>
        <p:spPr>
          <a:xfrm>
            <a:off x="3048000" y="3244334"/>
            <a:ext cx="6096000" cy="369332"/>
          </a:xfrm>
          <a:prstGeom prst="rect">
            <a:avLst/>
          </a:prstGeom>
          <a:noFill/>
        </p:spPr>
        <p:txBody>
          <a:bodyPr wrap="square">
            <a:spAutoFit/>
          </a:bodyPr>
          <a:lstStyle/>
          <a:p>
            <a:r>
              <a:rPr lang="en-US" dirty="0"/>
              <a:t> </a:t>
            </a:r>
          </a:p>
        </p:txBody>
      </p:sp>
      <p:cxnSp>
        <p:nvCxnSpPr>
          <p:cNvPr id="9" name="Straight Connector 8">
            <a:extLst>
              <a:ext uri="{FF2B5EF4-FFF2-40B4-BE49-F238E27FC236}">
                <a16:creationId xmlns:a16="http://schemas.microsoft.com/office/drawing/2014/main" id="{936F4B95-C4A0-3895-7910-617877439E1C}"/>
              </a:ext>
            </a:extLst>
          </p:cNvPr>
          <p:cNvCxnSpPr>
            <a:cxnSpLocks/>
          </p:cNvCxnSpPr>
          <p:nvPr/>
        </p:nvCxnSpPr>
        <p:spPr>
          <a:xfrm>
            <a:off x="518160" y="185195"/>
            <a:ext cx="0" cy="617445"/>
          </a:xfrm>
          <a:prstGeom prst="line">
            <a:avLst/>
          </a:prstGeom>
          <a:ln w="76200"/>
          <a:effectLst>
            <a:glow rad="101600">
              <a:schemeClr val="accent1">
                <a:satMod val="175000"/>
                <a:alpha val="40000"/>
              </a:schemeClr>
            </a:glow>
          </a:effectLst>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08FFC30F-F444-2410-D572-9C6D404D2E3B}"/>
              </a:ext>
            </a:extLst>
          </p:cNvPr>
          <p:cNvSpPr/>
          <p:nvPr/>
        </p:nvSpPr>
        <p:spPr>
          <a:xfrm>
            <a:off x="162560" y="1391920"/>
            <a:ext cx="3668660" cy="4734560"/>
          </a:xfrm>
          <a:prstGeom prst="roundRect">
            <a:avLst/>
          </a:prstGeom>
          <a:solidFill>
            <a:srgbClr val="1313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
        <p:nvSpPr>
          <p:cNvPr id="13" name="Rectangle: Rounded Corners 12">
            <a:extLst>
              <a:ext uri="{FF2B5EF4-FFF2-40B4-BE49-F238E27FC236}">
                <a16:creationId xmlns:a16="http://schemas.microsoft.com/office/drawing/2014/main" id="{D8DEE9DC-16EE-F983-54FC-1FADFADEE9D7}"/>
              </a:ext>
            </a:extLst>
          </p:cNvPr>
          <p:cNvSpPr/>
          <p:nvPr/>
        </p:nvSpPr>
        <p:spPr>
          <a:xfrm>
            <a:off x="3970116" y="1412240"/>
            <a:ext cx="8069484" cy="4765040"/>
          </a:xfrm>
          <a:prstGeom prst="roundRect">
            <a:avLst/>
          </a:prstGeom>
          <a:solidFill>
            <a:srgbClr val="1313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ptos" panose="02110004020202020204"/>
            </a:endParaRPr>
          </a:p>
        </p:txBody>
      </p:sp>
      <p:sp>
        <p:nvSpPr>
          <p:cNvPr id="15" name="TextBox 14">
            <a:extLst>
              <a:ext uri="{FF2B5EF4-FFF2-40B4-BE49-F238E27FC236}">
                <a16:creationId xmlns:a16="http://schemas.microsoft.com/office/drawing/2014/main" id="{42A6B1AE-0867-7AA0-5CEC-2861BA88AE1D}"/>
              </a:ext>
            </a:extLst>
          </p:cNvPr>
          <p:cNvSpPr txBox="1"/>
          <p:nvPr/>
        </p:nvSpPr>
        <p:spPr>
          <a:xfrm>
            <a:off x="487680" y="2512814"/>
            <a:ext cx="2275840" cy="461665"/>
          </a:xfrm>
          <a:prstGeom prst="rect">
            <a:avLst/>
          </a:prstGeom>
          <a:noFill/>
        </p:spPr>
        <p:txBody>
          <a:bodyPr wrap="square">
            <a:spAutoFit/>
          </a:bodyPr>
          <a:lstStyle/>
          <a:p>
            <a:pPr rtl="0">
              <a:spcBef>
                <a:spcPts val="0"/>
              </a:spcBef>
              <a:spcAft>
                <a:spcPts val="0"/>
              </a:spcAft>
            </a:pPr>
            <a:r>
              <a:rPr lang="en-US" sz="2400" b="1" i="0" u="none" strike="noStrike" dirty="0">
                <a:effectLst/>
                <a:latin typeface="Urbanist"/>
              </a:rPr>
              <a:t>Team Members</a:t>
            </a:r>
            <a:endParaRPr lang="en-US" sz="2400" dirty="0">
              <a:effectLst/>
            </a:endParaRPr>
          </a:p>
        </p:txBody>
      </p:sp>
      <p:pic>
        <p:nvPicPr>
          <p:cNvPr id="1026" name="Picture 2">
            <a:extLst>
              <a:ext uri="{FF2B5EF4-FFF2-40B4-BE49-F238E27FC236}">
                <a16:creationId xmlns:a16="http://schemas.microsoft.com/office/drawing/2014/main" id="{D5645790-A1EA-B2AA-9217-F748B04640A8}"/>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513080" y="3511233"/>
            <a:ext cx="152400" cy="180975"/>
          </a:xfrm>
          <a:prstGeom prst="rect">
            <a:avLst/>
          </a:prstGeom>
          <a:noFill/>
        </p:spPr>
      </p:pic>
      <p:pic>
        <p:nvPicPr>
          <p:cNvPr id="1028" name="Picture 4">
            <a:extLst>
              <a:ext uri="{FF2B5EF4-FFF2-40B4-BE49-F238E27FC236}">
                <a16:creationId xmlns:a16="http://schemas.microsoft.com/office/drawing/2014/main" id="{6F579764-8761-95CD-39CE-316C785B1762}"/>
              </a:ext>
            </a:extLst>
          </p:cNvPr>
          <p:cNvPicPr>
            <a:picLocks noChangeAspect="1" noChangeArrowheads="1"/>
          </p:cNvPicPr>
          <p:nvPr/>
        </p:nvPicPr>
        <p:blipFill>
          <a:blip r:embed="rId2">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543560" y="3135313"/>
            <a:ext cx="152400" cy="180975"/>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6ECC455D-0310-5741-D7F4-A84EA8664894}"/>
              </a:ext>
            </a:extLst>
          </p:cNvPr>
          <p:cNvSpPr txBox="1"/>
          <p:nvPr/>
        </p:nvSpPr>
        <p:spPr>
          <a:xfrm>
            <a:off x="4765040" y="1778000"/>
            <a:ext cx="4378960" cy="800219"/>
          </a:xfrm>
          <a:prstGeom prst="rect">
            <a:avLst/>
          </a:prstGeom>
          <a:noFill/>
        </p:spPr>
        <p:txBody>
          <a:bodyPr wrap="square" rtlCol="0">
            <a:spAutoFit/>
          </a:bodyPr>
          <a:lstStyle/>
          <a:p>
            <a:r>
              <a:rPr lang="en-US" sz="2800" b="1" i="0" u="none" strike="noStrike" dirty="0">
                <a:solidFill>
                  <a:schemeClr val="accent4">
                    <a:lumMod val="75000"/>
                  </a:schemeClr>
                </a:solidFill>
                <a:effectLst/>
                <a:latin typeface="Urbanist"/>
              </a:rPr>
              <a:t>Collective Responsibilities</a:t>
            </a:r>
            <a:endParaRPr lang="en-US" sz="2800" dirty="0">
              <a:solidFill>
                <a:schemeClr val="accent4">
                  <a:lumMod val="75000"/>
                </a:schemeClr>
              </a:solidFill>
              <a:effectLst/>
            </a:endParaRPr>
          </a:p>
          <a:p>
            <a:endParaRPr lang="en-US" dirty="0"/>
          </a:p>
        </p:txBody>
      </p:sp>
      <p:cxnSp>
        <p:nvCxnSpPr>
          <p:cNvPr id="25" name="Straight Arrow Connector 24">
            <a:extLst>
              <a:ext uri="{FF2B5EF4-FFF2-40B4-BE49-F238E27FC236}">
                <a16:creationId xmlns:a16="http://schemas.microsoft.com/office/drawing/2014/main" id="{CD530D50-3A40-6930-45EE-8F7A51DC2822}"/>
              </a:ext>
            </a:extLst>
          </p:cNvPr>
          <p:cNvCxnSpPr>
            <a:cxnSpLocks/>
          </p:cNvCxnSpPr>
          <p:nvPr/>
        </p:nvCxnSpPr>
        <p:spPr>
          <a:xfrm>
            <a:off x="4429760" y="2661920"/>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72ECEA8-54B1-0D9C-D8F7-25BF469C755F}"/>
              </a:ext>
            </a:extLst>
          </p:cNvPr>
          <p:cNvCxnSpPr>
            <a:cxnSpLocks/>
          </p:cNvCxnSpPr>
          <p:nvPr/>
        </p:nvCxnSpPr>
        <p:spPr>
          <a:xfrm>
            <a:off x="4419600" y="3403600"/>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DAD2F3C-6C29-FC8B-F049-8E0A5EACA2DE}"/>
              </a:ext>
            </a:extLst>
          </p:cNvPr>
          <p:cNvCxnSpPr>
            <a:cxnSpLocks/>
          </p:cNvCxnSpPr>
          <p:nvPr/>
        </p:nvCxnSpPr>
        <p:spPr>
          <a:xfrm>
            <a:off x="4480560" y="4836160"/>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DCB5390F-ACB3-6BA7-A711-C1C859363B3A}"/>
              </a:ext>
            </a:extLst>
          </p:cNvPr>
          <p:cNvCxnSpPr>
            <a:cxnSpLocks/>
          </p:cNvCxnSpPr>
          <p:nvPr/>
        </p:nvCxnSpPr>
        <p:spPr>
          <a:xfrm>
            <a:off x="4450080" y="4135120"/>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 name="Picture 4">
            <a:extLst>
              <a:ext uri="{FF2B5EF4-FFF2-40B4-BE49-F238E27FC236}">
                <a16:creationId xmlns:a16="http://schemas.microsoft.com/office/drawing/2014/main" id="{7BE92A91-61EE-05C5-D7E5-B6DB03D656F7}"/>
              </a:ext>
            </a:extLst>
          </p:cNvPr>
          <p:cNvPicPr>
            <a:picLocks noChangeAspect="1" noChangeArrowheads="1"/>
          </p:cNvPicPr>
          <p:nvPr/>
        </p:nvPicPr>
        <p:blipFill>
          <a:blip r:embed="rId2">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533400" y="4364673"/>
            <a:ext cx="152400" cy="1809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a:extLst>
              <a:ext uri="{FF2B5EF4-FFF2-40B4-BE49-F238E27FC236}">
                <a16:creationId xmlns:a16="http://schemas.microsoft.com/office/drawing/2014/main" id="{CDB76EF2-0553-69EF-2D73-AE605510217E}"/>
              </a:ext>
            </a:extLst>
          </p:cNvPr>
          <p:cNvPicPr>
            <a:picLocks noChangeAspect="1" noChangeArrowheads="1"/>
          </p:cNvPicPr>
          <p:nvPr/>
        </p:nvPicPr>
        <p:blipFill>
          <a:blip r:embed="rId2">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523240" y="3917633"/>
            <a:ext cx="152400" cy="1809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F6E0D3B-E5E6-8FED-D440-E501BD0451BE}"/>
              </a:ext>
            </a:extLst>
          </p:cNvPr>
          <p:cNvSpPr txBox="1"/>
          <p:nvPr/>
        </p:nvSpPr>
        <p:spPr>
          <a:xfrm>
            <a:off x="670560" y="203200"/>
            <a:ext cx="6573520" cy="584775"/>
          </a:xfrm>
          <a:prstGeom prst="rect">
            <a:avLst/>
          </a:prstGeom>
          <a:noFill/>
        </p:spPr>
        <p:txBody>
          <a:bodyPr wrap="square" rtlCol="0">
            <a:spAutoFit/>
          </a:bodyPr>
          <a:lstStyle/>
          <a:p>
            <a:r>
              <a:rPr lang="en-US" sz="3200" b="1" dirty="0">
                <a:solidFill>
                  <a:schemeClr val="accent1">
                    <a:lumMod val="60000"/>
                    <a:lumOff val="40000"/>
                  </a:schemeClr>
                </a:solidFill>
                <a:latin typeface="Lucida Console" panose="020B0609040504020204" pitchFamily="49" charset="0"/>
              </a:rPr>
              <a:t>GAMEPLAY</a:t>
            </a:r>
            <a:r>
              <a:rPr lang="en-US" sz="2800" b="1" dirty="0">
                <a:latin typeface="Lucida Console" panose="020B0609040504020204" pitchFamily="49" charset="0"/>
              </a:rPr>
              <a:t> &amp; LOGIC TEAM</a:t>
            </a:r>
            <a:endParaRPr lang="en-US" sz="2800" dirty="0">
              <a:latin typeface="Lucida Console" panose="020B0609040504020204" pitchFamily="49" charset="0"/>
            </a:endParaRPr>
          </a:p>
        </p:txBody>
      </p:sp>
      <p:sp>
        <p:nvSpPr>
          <p:cNvPr id="8" name="Rectangle 1">
            <a:extLst>
              <a:ext uri="{FF2B5EF4-FFF2-40B4-BE49-F238E27FC236}">
                <a16:creationId xmlns:a16="http://schemas.microsoft.com/office/drawing/2014/main" id="{EBDEFC29-2CD0-D5AC-695F-35A2B95C5FD6}"/>
              </a:ext>
            </a:extLst>
          </p:cNvPr>
          <p:cNvSpPr>
            <a:spLocks noChangeArrowheads="1"/>
          </p:cNvSpPr>
          <p:nvPr/>
        </p:nvSpPr>
        <p:spPr bwMode="auto">
          <a:xfrm>
            <a:off x="690880" y="2948326"/>
            <a:ext cx="2416046"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pPr>
            <a:r>
              <a:rPr kumimoji="0" lang="en-US" altLang="en-US" i="0" u="none" strike="noStrike" cap="none" normalizeH="0" baseline="0" dirty="0">
                <a:ln>
                  <a:noFill/>
                </a:ln>
                <a:solidFill>
                  <a:schemeClr val="tx1"/>
                </a:solidFill>
                <a:effectLst/>
                <a:latin typeface="Arial" panose="020B0604020202020204" pitchFamily="34" charset="0"/>
              </a:rPr>
              <a:t>Eman Mohammad</a:t>
            </a:r>
          </a:p>
          <a:p>
            <a:pPr defTabSz="914400" eaLnBrk="0" fontAlgn="base" hangingPunct="0">
              <a:lnSpc>
                <a:spcPct val="150000"/>
              </a:lnSpc>
              <a:spcBef>
                <a:spcPct val="0"/>
              </a:spcBef>
              <a:spcAft>
                <a:spcPct val="0"/>
              </a:spcAft>
            </a:pPr>
            <a:r>
              <a:rPr lang="en-US" altLang="en-US" dirty="0">
                <a:latin typeface="Arial" panose="020B0604020202020204" pitchFamily="34" charset="0"/>
              </a:rPr>
              <a:t>Abanoub Hany Fahim</a:t>
            </a:r>
            <a:endParaRPr kumimoji="0" lang="en-US" altLang="en-US"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i="0" u="none" strike="noStrike" cap="none" normalizeH="0" baseline="0" dirty="0">
                <a:ln>
                  <a:noFill/>
                </a:ln>
                <a:solidFill>
                  <a:schemeClr val="tx1"/>
                </a:solidFill>
                <a:effectLst/>
                <a:latin typeface="Arial" panose="020B0604020202020204" pitchFamily="34" charset="0"/>
              </a:rPr>
              <a:t>Helen Hany</a:t>
            </a:r>
          </a:p>
          <a:p>
            <a:pPr marL="0" marR="0" lvl="0" indent="0" algn="l" defTabSz="914400" rtl="0" eaLnBrk="0" fontAlgn="base" latinLnBrk="0" hangingPunct="0">
              <a:lnSpc>
                <a:spcPct val="150000"/>
              </a:lnSpc>
              <a:spcBef>
                <a:spcPct val="0"/>
              </a:spcBef>
              <a:spcAft>
                <a:spcPct val="0"/>
              </a:spcAft>
              <a:buClrTx/>
              <a:buSzTx/>
              <a:tabLst/>
            </a:pPr>
            <a:r>
              <a:rPr kumimoji="0" lang="en-US" altLang="en-US" i="0" u="none" strike="noStrike" cap="none" normalizeH="0" baseline="0" dirty="0">
                <a:ln>
                  <a:noFill/>
                </a:ln>
                <a:solidFill>
                  <a:schemeClr val="tx1"/>
                </a:solidFill>
                <a:effectLst/>
                <a:latin typeface="Arial" panose="020B0604020202020204" pitchFamily="34" charset="0"/>
              </a:rPr>
              <a:t>Haneen Amr</a:t>
            </a:r>
          </a:p>
        </p:txBody>
      </p:sp>
      <p:sp>
        <p:nvSpPr>
          <p:cNvPr id="22" name="TextBox 21">
            <a:extLst>
              <a:ext uri="{FF2B5EF4-FFF2-40B4-BE49-F238E27FC236}">
                <a16:creationId xmlns:a16="http://schemas.microsoft.com/office/drawing/2014/main" id="{780EB91A-2521-21D9-F939-EE231F8CF9DD}"/>
              </a:ext>
            </a:extLst>
          </p:cNvPr>
          <p:cNvSpPr txBox="1"/>
          <p:nvPr/>
        </p:nvSpPr>
        <p:spPr>
          <a:xfrm>
            <a:off x="4765040" y="2486075"/>
            <a:ext cx="7528560" cy="338554"/>
          </a:xfrm>
          <a:prstGeom prst="rect">
            <a:avLst/>
          </a:prstGeom>
          <a:noFill/>
        </p:spPr>
        <p:txBody>
          <a:bodyPr wrap="square">
            <a:spAutoFit/>
          </a:bodyPr>
          <a:lstStyle/>
          <a:p>
            <a:r>
              <a:rPr lang="en-US" sz="1600" b="1" dirty="0"/>
              <a:t>Character Class System:</a:t>
            </a:r>
            <a:r>
              <a:rPr lang="en-US" sz="1600" dirty="0"/>
              <a:t> Designing Heavy, Tall, and Nimble abilities</a:t>
            </a:r>
          </a:p>
        </p:txBody>
      </p:sp>
      <p:sp>
        <p:nvSpPr>
          <p:cNvPr id="24" name="TextBox 23">
            <a:extLst>
              <a:ext uri="{FF2B5EF4-FFF2-40B4-BE49-F238E27FC236}">
                <a16:creationId xmlns:a16="http://schemas.microsoft.com/office/drawing/2014/main" id="{D0CAFE95-33E3-DBDF-BD7F-14E8A0BE5298}"/>
              </a:ext>
            </a:extLst>
          </p:cNvPr>
          <p:cNvSpPr txBox="1"/>
          <p:nvPr/>
        </p:nvSpPr>
        <p:spPr>
          <a:xfrm>
            <a:off x="4765040" y="3230880"/>
            <a:ext cx="6634480" cy="338554"/>
          </a:xfrm>
          <a:prstGeom prst="rect">
            <a:avLst/>
          </a:prstGeom>
          <a:noFill/>
        </p:spPr>
        <p:txBody>
          <a:bodyPr wrap="square" rtlCol="0">
            <a:spAutoFit/>
          </a:bodyPr>
          <a:lstStyle/>
          <a:p>
            <a:r>
              <a:rPr lang="en-US" sz="1600" b="1" dirty="0"/>
              <a:t>Puzzle Interaction Logic:</a:t>
            </a:r>
            <a:r>
              <a:rPr lang="en-US" sz="1600" dirty="0"/>
              <a:t> Developing pressure plates and timed doors</a:t>
            </a:r>
          </a:p>
        </p:txBody>
      </p:sp>
      <p:sp>
        <p:nvSpPr>
          <p:cNvPr id="33" name="TextBox 32">
            <a:extLst>
              <a:ext uri="{FF2B5EF4-FFF2-40B4-BE49-F238E27FC236}">
                <a16:creationId xmlns:a16="http://schemas.microsoft.com/office/drawing/2014/main" id="{CAE551A0-C945-3D8C-6D7E-C33342A2C7DE}"/>
              </a:ext>
            </a:extLst>
          </p:cNvPr>
          <p:cNvSpPr txBox="1"/>
          <p:nvPr/>
        </p:nvSpPr>
        <p:spPr>
          <a:xfrm>
            <a:off x="4780280" y="3938955"/>
            <a:ext cx="7198360" cy="338554"/>
          </a:xfrm>
          <a:prstGeom prst="rect">
            <a:avLst/>
          </a:prstGeom>
          <a:noFill/>
        </p:spPr>
        <p:txBody>
          <a:bodyPr wrap="square">
            <a:spAutoFit/>
          </a:bodyPr>
          <a:lstStyle/>
          <a:p>
            <a:r>
              <a:rPr lang="en-US" sz="1600" b="1" dirty="0"/>
              <a:t>Entity State Management:</a:t>
            </a:r>
            <a:r>
              <a:rPr lang="en-US" sz="1600" dirty="0"/>
              <a:t> Handling movement physics and interaction triggers</a:t>
            </a:r>
          </a:p>
        </p:txBody>
      </p:sp>
      <p:sp>
        <p:nvSpPr>
          <p:cNvPr id="35" name="TextBox 34">
            <a:extLst>
              <a:ext uri="{FF2B5EF4-FFF2-40B4-BE49-F238E27FC236}">
                <a16:creationId xmlns:a16="http://schemas.microsoft.com/office/drawing/2014/main" id="{1DE0AC27-AB9A-409B-0C70-97CF9CFAB372}"/>
              </a:ext>
            </a:extLst>
          </p:cNvPr>
          <p:cNvSpPr txBox="1"/>
          <p:nvPr/>
        </p:nvSpPr>
        <p:spPr>
          <a:xfrm>
            <a:off x="4841240" y="4660315"/>
            <a:ext cx="7350760" cy="338554"/>
          </a:xfrm>
          <a:prstGeom prst="rect">
            <a:avLst/>
          </a:prstGeom>
          <a:noFill/>
        </p:spPr>
        <p:txBody>
          <a:bodyPr wrap="square">
            <a:spAutoFit/>
          </a:bodyPr>
          <a:lstStyle/>
          <a:p>
            <a:r>
              <a:rPr lang="en-US" sz="1600" b="1" dirty="0"/>
              <a:t>Cooperative Mechanics:</a:t>
            </a:r>
            <a:r>
              <a:rPr lang="en-US" sz="1600" dirty="0"/>
              <a:t> Implementing multi-player environmental challenges.</a:t>
            </a:r>
          </a:p>
        </p:txBody>
      </p:sp>
    </p:spTree>
    <p:extLst>
      <p:ext uri="{BB962C8B-B14F-4D97-AF65-F5344CB8AC3E}">
        <p14:creationId xmlns:p14="http://schemas.microsoft.com/office/powerpoint/2010/main" val="3967130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D134CE-6E25-F460-E6F3-99019CC09726}"/>
              </a:ext>
            </a:extLst>
          </p:cNvPr>
          <p:cNvSpPr txBox="1"/>
          <p:nvPr/>
        </p:nvSpPr>
        <p:spPr>
          <a:xfrm>
            <a:off x="3048000" y="3244334"/>
            <a:ext cx="609600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 </a:t>
            </a:r>
          </a:p>
        </p:txBody>
      </p:sp>
      <p:sp>
        <p:nvSpPr>
          <p:cNvPr id="5" name="TextBox 4">
            <a:extLst>
              <a:ext uri="{FF2B5EF4-FFF2-40B4-BE49-F238E27FC236}">
                <a16:creationId xmlns:a16="http://schemas.microsoft.com/office/drawing/2014/main" id="{9275FE77-94EA-F84B-9D65-FEEAF986A672}"/>
              </a:ext>
            </a:extLst>
          </p:cNvPr>
          <p:cNvSpPr txBox="1"/>
          <p:nvPr/>
        </p:nvSpPr>
        <p:spPr>
          <a:xfrm>
            <a:off x="3048000" y="3244334"/>
            <a:ext cx="609600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 </a:t>
            </a:r>
          </a:p>
        </p:txBody>
      </p:sp>
      <p:cxnSp>
        <p:nvCxnSpPr>
          <p:cNvPr id="9" name="Straight Connector 8">
            <a:extLst>
              <a:ext uri="{FF2B5EF4-FFF2-40B4-BE49-F238E27FC236}">
                <a16:creationId xmlns:a16="http://schemas.microsoft.com/office/drawing/2014/main" id="{936F4B95-C4A0-3895-7910-617877439E1C}"/>
              </a:ext>
            </a:extLst>
          </p:cNvPr>
          <p:cNvCxnSpPr>
            <a:cxnSpLocks/>
          </p:cNvCxnSpPr>
          <p:nvPr/>
        </p:nvCxnSpPr>
        <p:spPr>
          <a:xfrm>
            <a:off x="518160" y="185195"/>
            <a:ext cx="0" cy="617445"/>
          </a:xfrm>
          <a:prstGeom prst="line">
            <a:avLst/>
          </a:prstGeom>
          <a:ln w="76200"/>
          <a:effectLst>
            <a:glow rad="101600">
              <a:schemeClr val="accent1">
                <a:satMod val="175000"/>
                <a:alpha val="40000"/>
              </a:schemeClr>
            </a:glow>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48816809-2C05-74CC-8018-1FCB94C12185}"/>
              </a:ext>
            </a:extLst>
          </p:cNvPr>
          <p:cNvSpPr txBox="1"/>
          <p:nvPr/>
        </p:nvSpPr>
        <p:spPr>
          <a:xfrm>
            <a:off x="690880" y="182880"/>
            <a:ext cx="6238240"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200" b="1" dirty="0">
                <a:solidFill>
                  <a:schemeClr val="accent1">
                    <a:lumMod val="60000"/>
                    <a:lumOff val="40000"/>
                  </a:schemeClr>
                </a:solidFill>
                <a:latin typeface="Lucida Console" panose="020B0609040504020204" pitchFamily="49" charset="0"/>
              </a:rPr>
              <a:t>NETWORK </a:t>
            </a:r>
            <a:r>
              <a:rPr lang="en-US" sz="3200" b="1" dirty="0">
                <a:latin typeface="Lucida Console" panose="020B0609040504020204" pitchFamily="49" charset="0"/>
              </a:rPr>
              <a:t>SYNCHRONIZATION</a:t>
            </a:r>
            <a:endParaRPr kumimoji="0" lang="en-US" sz="3200" b="0" i="0" u="none" strike="noStrike" kern="1200" cap="none" spc="0" normalizeH="0" baseline="0" noProof="0" dirty="0">
              <a:ln>
                <a:noFill/>
              </a:ln>
              <a:solidFill>
                <a:prstClr val="white"/>
              </a:solidFill>
              <a:effectLst/>
              <a:uLnTx/>
              <a:uFillTx/>
              <a:latin typeface="Lucida Console" panose="020B0609040504020204" pitchFamily="49" charset="0"/>
            </a:endParaRPr>
          </a:p>
        </p:txBody>
      </p:sp>
      <p:sp>
        <p:nvSpPr>
          <p:cNvPr id="12" name="Rectangle: Rounded Corners 11">
            <a:extLst>
              <a:ext uri="{FF2B5EF4-FFF2-40B4-BE49-F238E27FC236}">
                <a16:creationId xmlns:a16="http://schemas.microsoft.com/office/drawing/2014/main" id="{08FFC30F-F444-2410-D572-9C6D404D2E3B}"/>
              </a:ext>
            </a:extLst>
          </p:cNvPr>
          <p:cNvSpPr/>
          <p:nvPr/>
        </p:nvSpPr>
        <p:spPr>
          <a:xfrm>
            <a:off x="193040" y="1402080"/>
            <a:ext cx="3672904" cy="4734560"/>
          </a:xfrm>
          <a:prstGeom prst="roundRect">
            <a:avLst/>
          </a:prstGeom>
          <a:solidFill>
            <a:srgbClr val="1313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Rounded Corners 12">
            <a:extLst>
              <a:ext uri="{FF2B5EF4-FFF2-40B4-BE49-F238E27FC236}">
                <a16:creationId xmlns:a16="http://schemas.microsoft.com/office/drawing/2014/main" id="{D8DEE9DC-16EE-F983-54FC-1FADFADEE9D7}"/>
              </a:ext>
            </a:extLst>
          </p:cNvPr>
          <p:cNvSpPr/>
          <p:nvPr/>
        </p:nvSpPr>
        <p:spPr>
          <a:xfrm>
            <a:off x="4004841" y="1412240"/>
            <a:ext cx="8034759" cy="4765040"/>
          </a:xfrm>
          <a:prstGeom prst="roundRect">
            <a:avLst/>
          </a:prstGeom>
          <a:solidFill>
            <a:srgbClr val="1313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ptos" panose="02110004020202020204"/>
            </a:endParaRPr>
          </a:p>
        </p:txBody>
      </p:sp>
      <p:sp>
        <p:nvSpPr>
          <p:cNvPr id="15" name="TextBox 14">
            <a:extLst>
              <a:ext uri="{FF2B5EF4-FFF2-40B4-BE49-F238E27FC236}">
                <a16:creationId xmlns:a16="http://schemas.microsoft.com/office/drawing/2014/main" id="{42A6B1AE-0867-7AA0-5CEC-2861BA88AE1D}"/>
              </a:ext>
            </a:extLst>
          </p:cNvPr>
          <p:cNvSpPr txBox="1"/>
          <p:nvPr/>
        </p:nvSpPr>
        <p:spPr>
          <a:xfrm>
            <a:off x="487680" y="2512814"/>
            <a:ext cx="227584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Urbanist"/>
                <a:ea typeface="+mn-ea"/>
                <a:cs typeface="+mn-cs"/>
              </a:rPr>
              <a:t>Team Members</a:t>
            </a:r>
            <a:endPar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1026" name="Picture 2">
            <a:extLst>
              <a:ext uri="{FF2B5EF4-FFF2-40B4-BE49-F238E27FC236}">
                <a16:creationId xmlns:a16="http://schemas.microsoft.com/office/drawing/2014/main" id="{D5645790-A1EA-B2AA-9217-F748B04640A8}"/>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533400" y="3226753"/>
            <a:ext cx="152400" cy="180975"/>
          </a:xfrm>
          <a:prstGeom prst="rect">
            <a:avLst/>
          </a:prstGeom>
          <a:noFill/>
        </p:spPr>
      </p:pic>
      <p:sp>
        <p:nvSpPr>
          <p:cNvPr id="18" name="TextBox 17">
            <a:extLst>
              <a:ext uri="{FF2B5EF4-FFF2-40B4-BE49-F238E27FC236}">
                <a16:creationId xmlns:a16="http://schemas.microsoft.com/office/drawing/2014/main" id="{6ECC455D-0310-5741-D7F4-A84EA8664894}"/>
              </a:ext>
            </a:extLst>
          </p:cNvPr>
          <p:cNvSpPr txBox="1"/>
          <p:nvPr/>
        </p:nvSpPr>
        <p:spPr>
          <a:xfrm>
            <a:off x="4765040" y="1778000"/>
            <a:ext cx="4378960"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accent4">
                    <a:lumMod val="75000"/>
                  </a:schemeClr>
                </a:solidFill>
                <a:effectLst/>
                <a:uLnTx/>
                <a:uFillTx/>
                <a:latin typeface="Urbanist"/>
                <a:ea typeface="+mn-ea"/>
                <a:cs typeface="+mn-cs"/>
              </a:rPr>
              <a:t>Collective Responsibilities</a:t>
            </a:r>
            <a:endParaRPr kumimoji="0" lang="en-US" sz="2800" b="0" i="0" u="none" strike="noStrike" kern="1200" cap="none" spc="0" normalizeH="0" baseline="0" noProof="0" dirty="0">
              <a:ln>
                <a:noFill/>
              </a:ln>
              <a:solidFill>
                <a:schemeClr val="accent4">
                  <a:lumMod val="75000"/>
                </a:schemeClr>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chemeClr val="accent4">
                  <a:lumMod val="75000"/>
                </a:schemeClr>
              </a:solidFill>
              <a:effectLst/>
              <a:uLnTx/>
              <a:uFillTx/>
              <a:latin typeface="Aptos" panose="02110004020202020204"/>
              <a:ea typeface="+mn-ea"/>
              <a:cs typeface="+mn-cs"/>
            </a:endParaRPr>
          </a:p>
        </p:txBody>
      </p:sp>
      <p:cxnSp>
        <p:nvCxnSpPr>
          <p:cNvPr id="25" name="Straight Arrow Connector 24">
            <a:extLst>
              <a:ext uri="{FF2B5EF4-FFF2-40B4-BE49-F238E27FC236}">
                <a16:creationId xmlns:a16="http://schemas.microsoft.com/office/drawing/2014/main" id="{CD530D50-3A40-6930-45EE-8F7A51DC2822}"/>
              </a:ext>
            </a:extLst>
          </p:cNvPr>
          <p:cNvCxnSpPr>
            <a:cxnSpLocks/>
          </p:cNvCxnSpPr>
          <p:nvPr/>
        </p:nvCxnSpPr>
        <p:spPr>
          <a:xfrm>
            <a:off x="4399280" y="2743200"/>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72ECEA8-54B1-0D9C-D8F7-25BF469C755F}"/>
              </a:ext>
            </a:extLst>
          </p:cNvPr>
          <p:cNvCxnSpPr>
            <a:cxnSpLocks/>
          </p:cNvCxnSpPr>
          <p:nvPr/>
        </p:nvCxnSpPr>
        <p:spPr>
          <a:xfrm>
            <a:off x="4384875" y="3611946"/>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DAD2F3C-6C29-FC8B-F049-8E0A5EACA2DE}"/>
              </a:ext>
            </a:extLst>
          </p:cNvPr>
          <p:cNvCxnSpPr>
            <a:cxnSpLocks/>
          </p:cNvCxnSpPr>
          <p:nvPr/>
        </p:nvCxnSpPr>
        <p:spPr>
          <a:xfrm>
            <a:off x="4376388" y="4454196"/>
            <a:ext cx="335280"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 name="Picture 2">
            <a:extLst>
              <a:ext uri="{FF2B5EF4-FFF2-40B4-BE49-F238E27FC236}">
                <a16:creationId xmlns:a16="http://schemas.microsoft.com/office/drawing/2014/main" id="{44FCCDDB-8169-44DD-1B93-2892890ECF5D}"/>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523240" y="3663633"/>
            <a:ext cx="152400" cy="180975"/>
          </a:xfrm>
          <a:prstGeom prst="rect">
            <a:avLst/>
          </a:prstGeom>
          <a:noFill/>
        </p:spPr>
      </p:pic>
      <p:sp>
        <p:nvSpPr>
          <p:cNvPr id="4" name="TextBox 3">
            <a:extLst>
              <a:ext uri="{FF2B5EF4-FFF2-40B4-BE49-F238E27FC236}">
                <a16:creationId xmlns:a16="http://schemas.microsoft.com/office/drawing/2014/main" id="{EE479F92-E76D-BB28-D5F1-3D639B157FDB}"/>
              </a:ext>
            </a:extLst>
          </p:cNvPr>
          <p:cNvSpPr txBox="1"/>
          <p:nvPr/>
        </p:nvSpPr>
        <p:spPr>
          <a:xfrm>
            <a:off x="731520" y="3037840"/>
            <a:ext cx="1747520" cy="883383"/>
          </a:xfrm>
          <a:prstGeom prst="rect">
            <a:avLst/>
          </a:prstGeom>
          <a:noFill/>
        </p:spPr>
        <p:txBody>
          <a:bodyPr wrap="square" rtlCol="0">
            <a:spAutoFit/>
          </a:bodyPr>
          <a:lstStyle/>
          <a:p>
            <a:pPr>
              <a:lnSpc>
                <a:spcPct val="150000"/>
              </a:lnSpc>
            </a:pPr>
            <a:r>
              <a:rPr lang="en-US" dirty="0"/>
              <a:t>Youssef Sameh</a:t>
            </a:r>
            <a:endParaRPr lang="ar-EG" dirty="0"/>
          </a:p>
          <a:p>
            <a:pPr>
              <a:lnSpc>
                <a:spcPct val="150000"/>
              </a:lnSpc>
            </a:pPr>
            <a:r>
              <a:rPr lang="en-US" dirty="0"/>
              <a:t>Seif Allah Wael</a:t>
            </a:r>
          </a:p>
        </p:txBody>
      </p:sp>
      <p:sp>
        <p:nvSpPr>
          <p:cNvPr id="6" name="TextBox 5">
            <a:extLst>
              <a:ext uri="{FF2B5EF4-FFF2-40B4-BE49-F238E27FC236}">
                <a16:creationId xmlns:a16="http://schemas.microsoft.com/office/drawing/2014/main" id="{EC58EFC9-60EC-BDF0-149C-A2218A25787E}"/>
              </a:ext>
            </a:extLst>
          </p:cNvPr>
          <p:cNvSpPr txBox="1"/>
          <p:nvPr/>
        </p:nvSpPr>
        <p:spPr>
          <a:xfrm>
            <a:off x="4783044" y="2576138"/>
            <a:ext cx="6490697" cy="338554"/>
          </a:xfrm>
          <a:prstGeom prst="rect">
            <a:avLst/>
          </a:prstGeom>
          <a:noFill/>
        </p:spPr>
        <p:txBody>
          <a:bodyPr wrap="square" rtlCol="0">
            <a:spAutoFit/>
          </a:bodyPr>
          <a:lstStyle/>
          <a:p>
            <a:r>
              <a:rPr lang="en-US" sz="1600" b="1" dirty="0"/>
              <a:t>Relay Server Infrastructure:</a:t>
            </a:r>
            <a:r>
              <a:rPr lang="en-US" sz="1600" dirty="0"/>
              <a:t> Establishing raw Socket communication</a:t>
            </a:r>
          </a:p>
        </p:txBody>
      </p:sp>
      <p:sp>
        <p:nvSpPr>
          <p:cNvPr id="8" name="TextBox 7">
            <a:extLst>
              <a:ext uri="{FF2B5EF4-FFF2-40B4-BE49-F238E27FC236}">
                <a16:creationId xmlns:a16="http://schemas.microsoft.com/office/drawing/2014/main" id="{7785004B-5DE4-BBA2-88C1-53A1E34A6938}"/>
              </a:ext>
            </a:extLst>
          </p:cNvPr>
          <p:cNvSpPr txBox="1"/>
          <p:nvPr/>
        </p:nvSpPr>
        <p:spPr>
          <a:xfrm>
            <a:off x="4736940" y="3421244"/>
            <a:ext cx="6094070" cy="338554"/>
          </a:xfrm>
          <a:prstGeom prst="rect">
            <a:avLst/>
          </a:prstGeom>
          <a:noFill/>
        </p:spPr>
        <p:txBody>
          <a:bodyPr wrap="square">
            <a:spAutoFit/>
          </a:bodyPr>
          <a:lstStyle/>
          <a:p>
            <a:r>
              <a:rPr lang="en-US" sz="1600" b="1" dirty="0"/>
              <a:t>Data Serialization:</a:t>
            </a:r>
            <a:r>
              <a:rPr lang="en-US" sz="1600" dirty="0"/>
              <a:t> Designing efficient packet transfer protocols</a:t>
            </a:r>
          </a:p>
        </p:txBody>
      </p:sp>
      <p:sp>
        <p:nvSpPr>
          <p:cNvPr id="14" name="TextBox 13">
            <a:extLst>
              <a:ext uri="{FF2B5EF4-FFF2-40B4-BE49-F238E27FC236}">
                <a16:creationId xmlns:a16="http://schemas.microsoft.com/office/drawing/2014/main" id="{4B7B3500-3341-D05E-E21F-2D3058128920}"/>
              </a:ext>
            </a:extLst>
          </p:cNvPr>
          <p:cNvSpPr txBox="1"/>
          <p:nvPr/>
        </p:nvSpPr>
        <p:spPr>
          <a:xfrm>
            <a:off x="4760089" y="4277771"/>
            <a:ext cx="6094070" cy="338554"/>
          </a:xfrm>
          <a:prstGeom prst="rect">
            <a:avLst/>
          </a:prstGeom>
          <a:noFill/>
        </p:spPr>
        <p:txBody>
          <a:bodyPr wrap="square">
            <a:spAutoFit/>
          </a:bodyPr>
          <a:lstStyle/>
          <a:p>
            <a:r>
              <a:rPr lang="en-US" sz="1600" b="1" dirty="0"/>
              <a:t>State Synchronization:</a:t>
            </a:r>
            <a:r>
              <a:rPr lang="en-US" sz="1600" dirty="0"/>
              <a:t> Ensuring zero latency between players</a:t>
            </a:r>
          </a:p>
        </p:txBody>
      </p:sp>
    </p:spTree>
    <p:extLst>
      <p:ext uri="{BB962C8B-B14F-4D97-AF65-F5344CB8AC3E}">
        <p14:creationId xmlns:p14="http://schemas.microsoft.com/office/powerpoint/2010/main" val="1470372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B0F92D52-CEF9-22EB-8BC2-95D5EC68EA4A}"/>
              </a:ext>
            </a:extLst>
          </p:cNvPr>
          <p:cNvSpPr/>
          <p:nvPr/>
        </p:nvSpPr>
        <p:spPr>
          <a:xfrm>
            <a:off x="364308" y="5630817"/>
            <a:ext cx="1056640" cy="284480"/>
          </a:xfrm>
          <a:prstGeom prst="roundRect">
            <a:avLst>
              <a:gd name="adj" fmla="val 50000"/>
            </a:avLst>
          </a:prstGeom>
          <a:solidFill>
            <a:srgbClr val="26262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AE4B96C9-9C29-4185-6311-E15B01D8CEC7}"/>
              </a:ext>
            </a:extLst>
          </p:cNvPr>
          <p:cNvSpPr/>
          <p:nvPr/>
        </p:nvSpPr>
        <p:spPr>
          <a:xfrm>
            <a:off x="354148" y="6098178"/>
            <a:ext cx="1289860" cy="254000"/>
          </a:xfrm>
          <a:prstGeom prst="roundRect">
            <a:avLst>
              <a:gd name="adj" fmla="val 50000"/>
            </a:avLst>
          </a:prstGeom>
          <a:solidFill>
            <a:srgbClr val="26262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4A9FA9E1-D6BC-B631-DC16-A976E085E6AD}"/>
              </a:ext>
            </a:extLst>
          </p:cNvPr>
          <p:cNvSpPr/>
          <p:nvPr/>
        </p:nvSpPr>
        <p:spPr>
          <a:xfrm>
            <a:off x="660401" y="3914503"/>
            <a:ext cx="1371140" cy="274320"/>
          </a:xfrm>
          <a:prstGeom prst="roundRect">
            <a:avLst>
              <a:gd name="adj" fmla="val 50000"/>
            </a:avLst>
          </a:prstGeom>
          <a:solidFill>
            <a:srgbClr val="26262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9BBD122A-C61F-583C-B328-3040EF3EF95A}"/>
              </a:ext>
            </a:extLst>
          </p:cNvPr>
          <p:cNvSpPr/>
          <p:nvPr/>
        </p:nvSpPr>
        <p:spPr>
          <a:xfrm>
            <a:off x="640081" y="3465286"/>
            <a:ext cx="1290320" cy="233680"/>
          </a:xfrm>
          <a:prstGeom prst="roundRect">
            <a:avLst>
              <a:gd name="adj" fmla="val 50000"/>
            </a:avLst>
          </a:prstGeom>
          <a:solidFill>
            <a:srgbClr val="26262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0D5231ED-B889-E48B-3F61-F404A6A2AF0D}"/>
              </a:ext>
            </a:extLst>
          </p:cNvPr>
          <p:cNvSpPr/>
          <p:nvPr/>
        </p:nvSpPr>
        <p:spPr>
          <a:xfrm>
            <a:off x="650241" y="3008086"/>
            <a:ext cx="1005840" cy="254000"/>
          </a:xfrm>
          <a:prstGeom prst="roundRect">
            <a:avLst>
              <a:gd name="adj" fmla="val 50000"/>
            </a:avLst>
          </a:prstGeom>
          <a:solidFill>
            <a:srgbClr val="26262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2D866DF8-CB7E-768D-C3DB-E348734DC510}"/>
              </a:ext>
            </a:extLst>
          </p:cNvPr>
          <p:cNvSpPr/>
          <p:nvPr/>
        </p:nvSpPr>
        <p:spPr>
          <a:xfrm>
            <a:off x="590551" y="4367893"/>
            <a:ext cx="1207310" cy="298450"/>
          </a:xfrm>
          <a:prstGeom prst="roundRect">
            <a:avLst>
              <a:gd name="adj" fmla="val 50000"/>
            </a:avLst>
          </a:prstGeom>
          <a:solidFill>
            <a:srgbClr val="26262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D3A1C33C-52E7-8A3D-30A7-CC501C24CDF7}"/>
              </a:ext>
            </a:extLst>
          </p:cNvPr>
          <p:cNvSpPr/>
          <p:nvPr/>
        </p:nvSpPr>
        <p:spPr>
          <a:xfrm>
            <a:off x="640081" y="2553063"/>
            <a:ext cx="1371140" cy="274320"/>
          </a:xfrm>
          <a:prstGeom prst="roundRect">
            <a:avLst>
              <a:gd name="adj" fmla="val 50000"/>
            </a:avLst>
          </a:prstGeom>
          <a:solidFill>
            <a:srgbClr val="26262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6C04C-639C-B9BE-1790-AE8E4D82C4AC}"/>
              </a:ext>
            </a:extLst>
          </p:cNvPr>
          <p:cNvSpPr txBox="1"/>
          <p:nvPr/>
        </p:nvSpPr>
        <p:spPr>
          <a:xfrm>
            <a:off x="3733800" y="-310606"/>
            <a:ext cx="4321629" cy="1200329"/>
          </a:xfrm>
          <a:prstGeom prst="rect">
            <a:avLst/>
          </a:prstGeom>
          <a:noFill/>
        </p:spPr>
        <p:txBody>
          <a:bodyPr wrap="square" rtlCol="0">
            <a:spAutoFit/>
          </a:bodyPr>
          <a:lstStyle>
            <a:defPPr>
              <a:defRPr lang="en-US"/>
            </a:defPPr>
            <a:lvl1pPr>
              <a:defRPr sz="7200">
                <a:latin typeface="Playbill" panose="040506030A0602020202" pitchFamily="82" charset="0"/>
              </a:defRPr>
            </a:lvl1pPr>
          </a:lstStyle>
          <a:p>
            <a:r>
              <a:rPr lang="ar-EG" dirty="0"/>
              <a:t> </a:t>
            </a:r>
            <a:r>
              <a:rPr lang="en-US" sz="4800" b="1" dirty="0">
                <a:latin typeface="Baskerville Old Face" panose="02020602080505020303" pitchFamily="18" charset="0"/>
                <a:ea typeface="Open Sans Light" panose="020B0306030504020204" pitchFamily="34" charset="0"/>
                <a:cs typeface="Open Sans Light" panose="020B0306030504020204" pitchFamily="34" charset="0"/>
              </a:rPr>
              <a:t>Core Libraries</a:t>
            </a:r>
            <a:endParaRPr lang="en-US" b="1" dirty="0">
              <a:latin typeface="Baskerville Old Face" panose="02020602080505020303" pitchFamily="18" charset="0"/>
              <a:ea typeface="Open Sans Light" panose="020B0306030504020204" pitchFamily="34" charset="0"/>
              <a:cs typeface="Open Sans Light" panose="020B0306030504020204" pitchFamily="34" charset="0"/>
            </a:endParaRPr>
          </a:p>
        </p:txBody>
      </p:sp>
      <p:sp>
        <p:nvSpPr>
          <p:cNvPr id="3" name="TextBox 2">
            <a:extLst>
              <a:ext uri="{FF2B5EF4-FFF2-40B4-BE49-F238E27FC236}">
                <a16:creationId xmlns:a16="http://schemas.microsoft.com/office/drawing/2014/main" id="{0C62CCDA-9F82-31EC-E305-B745623C7CFE}"/>
              </a:ext>
            </a:extLst>
          </p:cNvPr>
          <p:cNvSpPr txBox="1"/>
          <p:nvPr/>
        </p:nvSpPr>
        <p:spPr>
          <a:xfrm>
            <a:off x="0" y="914400"/>
            <a:ext cx="11521440" cy="646331"/>
          </a:xfrm>
          <a:prstGeom prst="rect">
            <a:avLst/>
          </a:prstGeom>
          <a:noFill/>
        </p:spPr>
        <p:txBody>
          <a:bodyPr wrap="square" rtlCol="0">
            <a:spAutoFit/>
          </a:bodyPr>
          <a:lstStyle/>
          <a:p>
            <a:r>
              <a:rPr lang="en-US" b="1" dirty="0"/>
              <a:t>While working on this project, we utilized over 12 fundamental libraries to build our entire engine from scratch, ensuring high performance and modularity</a:t>
            </a:r>
            <a:r>
              <a:rPr lang="ar-EG" b="1" dirty="0"/>
              <a:t>.</a:t>
            </a:r>
            <a:endParaRPr lang="en-US" b="1" dirty="0"/>
          </a:p>
        </p:txBody>
      </p:sp>
      <p:cxnSp>
        <p:nvCxnSpPr>
          <p:cNvPr id="5" name="Straight Connector 4">
            <a:extLst>
              <a:ext uri="{FF2B5EF4-FFF2-40B4-BE49-F238E27FC236}">
                <a16:creationId xmlns:a16="http://schemas.microsoft.com/office/drawing/2014/main" id="{0A5E11A6-C5BC-C7D6-E65E-B0F149F6CF27}"/>
              </a:ext>
            </a:extLst>
          </p:cNvPr>
          <p:cNvCxnSpPr>
            <a:cxnSpLocks/>
          </p:cNvCxnSpPr>
          <p:nvPr/>
        </p:nvCxnSpPr>
        <p:spPr>
          <a:xfrm>
            <a:off x="1501503" y="1760583"/>
            <a:ext cx="9144000"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5E2B3EA4-8E1E-9520-35A3-2D7847E9F389}"/>
              </a:ext>
            </a:extLst>
          </p:cNvPr>
          <p:cNvSpPr txBox="1"/>
          <p:nvPr/>
        </p:nvSpPr>
        <p:spPr>
          <a:xfrm>
            <a:off x="163286" y="1828799"/>
            <a:ext cx="11081656" cy="3330207"/>
          </a:xfrm>
          <a:prstGeom prst="rect">
            <a:avLst/>
          </a:prstGeom>
          <a:noFill/>
          <a:effectLst>
            <a:glow rad="63500">
              <a:schemeClr val="accent1">
                <a:satMod val="175000"/>
                <a:alpha val="40000"/>
              </a:schemeClr>
            </a:glow>
          </a:effectLst>
        </p:spPr>
        <p:txBody>
          <a:bodyPr wrap="square" rtlCol="0">
            <a:spAutoFit/>
          </a:bodyPr>
          <a:lstStyle/>
          <a:p>
            <a:pPr marL="457200" indent="-457200">
              <a:lnSpc>
                <a:spcPct val="150000"/>
              </a:lnSpc>
              <a:buFont typeface="+mj-lt"/>
              <a:buAutoNum type="arabicPeriod"/>
            </a:pPr>
            <a:r>
              <a:rPr lang="en-US" sz="2400" dirty="0"/>
              <a:t>Standard I/O &amp; Logic</a:t>
            </a:r>
            <a:endParaRPr lang="ar-EG" sz="2400" dirty="0"/>
          </a:p>
          <a:p>
            <a:pPr lvl="1">
              <a:lnSpc>
                <a:spcPct val="150000"/>
              </a:lnSpc>
            </a:pPr>
            <a:r>
              <a:rPr lang="en-US" sz="2000" dirty="0">
                <a:solidFill>
                  <a:srgbClr val="A6CAEC"/>
                </a:solidFill>
              </a:rPr>
              <a:t>&lt;iostream&gt;</a:t>
            </a:r>
            <a:r>
              <a:rPr lang="ar-EG" sz="2000" dirty="0">
                <a:solidFill>
                  <a:srgbClr val="A6CAEC"/>
                </a:solidFill>
              </a:rPr>
              <a:t> </a:t>
            </a:r>
            <a:r>
              <a:rPr lang="en-US" sz="2000" dirty="0"/>
              <a:t>: Handles basic standard input and output streams.</a:t>
            </a:r>
          </a:p>
          <a:p>
            <a:pPr lvl="1">
              <a:lnSpc>
                <a:spcPct val="150000"/>
              </a:lnSpc>
            </a:pPr>
            <a:r>
              <a:rPr lang="en-US" sz="2000" dirty="0">
                <a:solidFill>
                  <a:srgbClr val="A6CAEC"/>
                </a:solidFill>
              </a:rPr>
              <a:t>&lt;string&gt;</a:t>
            </a:r>
            <a:r>
              <a:rPr lang="ar-EG" sz="2000" dirty="0">
                <a:solidFill>
                  <a:srgbClr val="A6CAEC"/>
                </a:solidFill>
              </a:rPr>
              <a:t> </a:t>
            </a:r>
            <a:r>
              <a:rPr lang="en-US" sz="2000" dirty="0"/>
              <a:t>: Provides advanced string manipulation and storage.</a:t>
            </a:r>
          </a:p>
          <a:p>
            <a:pPr lvl="1">
              <a:lnSpc>
                <a:spcPct val="150000"/>
              </a:lnSpc>
            </a:pPr>
            <a:r>
              <a:rPr lang="en-US" sz="2000" dirty="0">
                <a:solidFill>
                  <a:srgbClr val="A6CAEC"/>
                </a:solidFill>
              </a:rPr>
              <a:t>&lt;sstream&gt;</a:t>
            </a:r>
            <a:r>
              <a:rPr lang="ar-EG" sz="2000" dirty="0">
                <a:solidFill>
                  <a:srgbClr val="A6CAEC"/>
                </a:solidFill>
              </a:rPr>
              <a:t> </a:t>
            </a:r>
            <a:r>
              <a:rPr lang="en-US" sz="2000" dirty="0"/>
              <a:t>: Facilitates seamless conversion between strings and other data types.</a:t>
            </a:r>
          </a:p>
          <a:p>
            <a:pPr lvl="1">
              <a:lnSpc>
                <a:spcPct val="150000"/>
              </a:lnSpc>
            </a:pPr>
            <a:r>
              <a:rPr lang="en-US" sz="2000" dirty="0">
                <a:solidFill>
                  <a:srgbClr val="A6CAEC"/>
                </a:solidFill>
              </a:rPr>
              <a:t>&lt;algorithm&gt;</a:t>
            </a:r>
            <a:r>
              <a:rPr lang="ar-EG" sz="2000" dirty="0">
                <a:solidFill>
                  <a:srgbClr val="D89D72"/>
                </a:solidFill>
              </a:rPr>
              <a:t> </a:t>
            </a:r>
            <a:r>
              <a:rPr lang="en-US" sz="2000" dirty="0"/>
              <a:t>: Offers highly optimized functions for sorting, searching, and partitioning.</a:t>
            </a:r>
            <a:endParaRPr lang="en-US" sz="2000" dirty="0">
              <a:solidFill>
                <a:srgbClr val="D89D72"/>
              </a:solidFill>
            </a:endParaRPr>
          </a:p>
          <a:p>
            <a:pPr lvl="1">
              <a:lnSpc>
                <a:spcPct val="150000"/>
              </a:lnSpc>
            </a:pPr>
            <a:r>
              <a:rPr lang="en-US" sz="2000" dirty="0">
                <a:solidFill>
                  <a:srgbClr val="A6CAEC"/>
                </a:solidFill>
              </a:rPr>
              <a:t>&lt;cstdlib&gt;</a:t>
            </a:r>
            <a:r>
              <a:rPr lang="ar-EG" sz="2000" dirty="0">
                <a:solidFill>
                  <a:srgbClr val="A6CAEC"/>
                </a:solidFill>
              </a:rPr>
              <a:t> </a:t>
            </a:r>
            <a:r>
              <a:rPr lang="en-US" sz="2000" dirty="0"/>
              <a:t>: Manages random number generation and general system utilities.</a:t>
            </a:r>
            <a:endParaRPr lang="ar-EG" sz="2000" dirty="0"/>
          </a:p>
          <a:p>
            <a:pPr>
              <a:lnSpc>
                <a:spcPct val="150000"/>
              </a:lnSpc>
            </a:pPr>
            <a:endParaRPr lang="en-US" dirty="0"/>
          </a:p>
        </p:txBody>
      </p:sp>
      <p:cxnSp>
        <p:nvCxnSpPr>
          <p:cNvPr id="15" name="Straight Connector 14">
            <a:extLst>
              <a:ext uri="{FF2B5EF4-FFF2-40B4-BE49-F238E27FC236}">
                <a16:creationId xmlns:a16="http://schemas.microsoft.com/office/drawing/2014/main" id="{AEFACEB8-0C6F-4D5B-11E2-3225AC3D6A22}"/>
              </a:ext>
            </a:extLst>
          </p:cNvPr>
          <p:cNvCxnSpPr>
            <a:cxnSpLocks/>
          </p:cNvCxnSpPr>
          <p:nvPr/>
        </p:nvCxnSpPr>
        <p:spPr>
          <a:xfrm>
            <a:off x="190863" y="2353492"/>
            <a:ext cx="3393440"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CE250361-2E11-E8D2-3220-4DFB9DEE2DF6}"/>
              </a:ext>
            </a:extLst>
          </p:cNvPr>
          <p:cNvCxnSpPr>
            <a:cxnSpLocks/>
          </p:cNvCxnSpPr>
          <p:nvPr/>
        </p:nvCxnSpPr>
        <p:spPr>
          <a:xfrm>
            <a:off x="1425303" y="4886235"/>
            <a:ext cx="9123680"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847A864D-E1A1-ED84-64F7-E0452E9595AB}"/>
              </a:ext>
            </a:extLst>
          </p:cNvPr>
          <p:cNvSpPr txBox="1"/>
          <p:nvPr/>
        </p:nvSpPr>
        <p:spPr>
          <a:xfrm>
            <a:off x="119744" y="4879705"/>
            <a:ext cx="11565618" cy="1522468"/>
          </a:xfrm>
          <a:prstGeom prst="rect">
            <a:avLst/>
          </a:prstGeom>
          <a:noFill/>
        </p:spPr>
        <p:txBody>
          <a:bodyPr wrap="square" rtlCol="0">
            <a:spAutoFit/>
          </a:bodyPr>
          <a:lstStyle/>
          <a:p>
            <a:pPr>
              <a:lnSpc>
                <a:spcPct val="150000"/>
              </a:lnSpc>
            </a:pPr>
            <a:r>
              <a:rPr lang="en-US" sz="2400" dirty="0"/>
              <a:t>2.</a:t>
            </a:r>
            <a:r>
              <a:rPr lang="ar-EG" sz="2400" dirty="0"/>
              <a:t>	</a:t>
            </a:r>
            <a:r>
              <a:rPr lang="en-US" sz="2400" dirty="0"/>
              <a:t> Memory &amp; Data Management</a:t>
            </a:r>
            <a:endParaRPr lang="en-US" dirty="0"/>
          </a:p>
          <a:p>
            <a:pPr>
              <a:lnSpc>
                <a:spcPct val="150000"/>
              </a:lnSpc>
            </a:pPr>
            <a:r>
              <a:rPr lang="en-US" dirty="0">
                <a:solidFill>
                  <a:srgbClr val="A6CAEC"/>
                </a:solidFill>
              </a:rPr>
              <a:t>    </a:t>
            </a:r>
            <a:r>
              <a:rPr lang="en-US" sz="2000" dirty="0">
                <a:solidFill>
                  <a:srgbClr val="A6CAEC"/>
                </a:solidFill>
              </a:rPr>
              <a:t>&lt;vector</a:t>
            </a:r>
            <a:r>
              <a:rPr lang="en-US" sz="2000" b="1" dirty="0">
                <a:solidFill>
                  <a:srgbClr val="A6CAEC"/>
                </a:solidFill>
              </a:rPr>
              <a:t>&gt;</a:t>
            </a:r>
            <a:r>
              <a:rPr lang="ar-EG" sz="2000" b="1" dirty="0">
                <a:solidFill>
                  <a:srgbClr val="A6CAEC"/>
                </a:solidFill>
              </a:rPr>
              <a:t> </a:t>
            </a:r>
            <a:r>
              <a:rPr lang="en-US" sz="2000" b="1" dirty="0"/>
              <a:t>:</a:t>
            </a:r>
            <a:r>
              <a:rPr lang="en-US" sz="2000" dirty="0"/>
              <a:t> Implements dynamic arrays for managing game entities efficiently.</a:t>
            </a:r>
          </a:p>
          <a:p>
            <a:pPr>
              <a:lnSpc>
                <a:spcPct val="150000"/>
              </a:lnSpc>
            </a:pPr>
            <a:r>
              <a:rPr lang="en-US" sz="2000" dirty="0"/>
              <a:t>    </a:t>
            </a:r>
            <a:r>
              <a:rPr lang="en-US" sz="2000" dirty="0">
                <a:solidFill>
                  <a:srgbClr val="A6CAEC"/>
                </a:solidFill>
              </a:rPr>
              <a:t>&lt;memory&gt;</a:t>
            </a:r>
            <a:r>
              <a:rPr lang="ar-EG" sz="2000" dirty="0">
                <a:solidFill>
                  <a:srgbClr val="A6CAEC"/>
                </a:solidFill>
              </a:rPr>
              <a:t> </a:t>
            </a:r>
            <a:r>
              <a:rPr lang="en-US" sz="2000" dirty="0"/>
              <a:t>: Ensures memory safety through Smart Pointers (unique_ptr, shared_ptr).</a:t>
            </a:r>
          </a:p>
        </p:txBody>
      </p:sp>
      <p:cxnSp>
        <p:nvCxnSpPr>
          <p:cNvPr id="29" name="Straight Connector 28">
            <a:extLst>
              <a:ext uri="{FF2B5EF4-FFF2-40B4-BE49-F238E27FC236}">
                <a16:creationId xmlns:a16="http://schemas.microsoft.com/office/drawing/2014/main" id="{1A5D76B1-6D3E-1269-D9CE-7862EBF555E5}"/>
              </a:ext>
            </a:extLst>
          </p:cNvPr>
          <p:cNvCxnSpPr>
            <a:cxnSpLocks/>
          </p:cNvCxnSpPr>
          <p:nvPr/>
        </p:nvCxnSpPr>
        <p:spPr>
          <a:xfrm>
            <a:off x="190138" y="5445034"/>
            <a:ext cx="4479833"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378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2977E896-32E9-E6F4-1B92-17D0C45D9800}"/>
              </a:ext>
            </a:extLst>
          </p:cNvPr>
          <p:cNvSpPr/>
          <p:nvPr/>
        </p:nvSpPr>
        <p:spPr>
          <a:xfrm>
            <a:off x="370114" y="1458686"/>
            <a:ext cx="1088572" cy="272143"/>
          </a:xfrm>
          <a:prstGeom prst="roundRect">
            <a:avLst>
              <a:gd name="adj" fmla="val 50000"/>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FCA5D79C-5158-21BE-7B64-5645BFF731E0}"/>
              </a:ext>
            </a:extLst>
          </p:cNvPr>
          <p:cNvSpPr/>
          <p:nvPr/>
        </p:nvSpPr>
        <p:spPr>
          <a:xfrm>
            <a:off x="402771" y="1001486"/>
            <a:ext cx="1088572" cy="272143"/>
          </a:xfrm>
          <a:prstGeom prst="roundRect">
            <a:avLst>
              <a:gd name="adj" fmla="val 50000"/>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471358A4-F503-9BCE-E54B-53EA7E708780}"/>
              </a:ext>
            </a:extLst>
          </p:cNvPr>
          <p:cNvSpPr/>
          <p:nvPr/>
        </p:nvSpPr>
        <p:spPr>
          <a:xfrm>
            <a:off x="413655" y="1915886"/>
            <a:ext cx="1143001" cy="315686"/>
          </a:xfrm>
          <a:prstGeom prst="roundRect">
            <a:avLst>
              <a:gd name="adj" fmla="val 50000"/>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F8976ADD-4FC4-67A4-9256-71B17F73AF61}"/>
              </a:ext>
            </a:extLst>
          </p:cNvPr>
          <p:cNvSpPr/>
          <p:nvPr/>
        </p:nvSpPr>
        <p:spPr>
          <a:xfrm>
            <a:off x="424542" y="3298371"/>
            <a:ext cx="1567544" cy="293915"/>
          </a:xfrm>
          <a:prstGeom prst="roundRect">
            <a:avLst>
              <a:gd name="adj" fmla="val 50000"/>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666AF852-D378-D8E5-54E6-24E16A8939F5}"/>
              </a:ext>
            </a:extLst>
          </p:cNvPr>
          <p:cNvSpPr/>
          <p:nvPr/>
        </p:nvSpPr>
        <p:spPr>
          <a:xfrm>
            <a:off x="391885" y="3777342"/>
            <a:ext cx="1567544" cy="293915"/>
          </a:xfrm>
          <a:prstGeom prst="roundRect">
            <a:avLst>
              <a:gd name="adj" fmla="val 50000"/>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F06792D4-4B0D-4483-356E-E9BC458AD6B1}"/>
              </a:ext>
            </a:extLst>
          </p:cNvPr>
          <p:cNvSpPr/>
          <p:nvPr/>
        </p:nvSpPr>
        <p:spPr>
          <a:xfrm>
            <a:off x="402771" y="5715001"/>
            <a:ext cx="1001486" cy="293914"/>
          </a:xfrm>
          <a:prstGeom prst="roundRect">
            <a:avLst>
              <a:gd name="adj" fmla="val 50000"/>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C47B6C18-5780-230B-74A0-C76624D7F55A}"/>
              </a:ext>
            </a:extLst>
          </p:cNvPr>
          <p:cNvSpPr/>
          <p:nvPr/>
        </p:nvSpPr>
        <p:spPr>
          <a:xfrm>
            <a:off x="424542" y="5246915"/>
            <a:ext cx="1121230" cy="250371"/>
          </a:xfrm>
          <a:prstGeom prst="roundRect">
            <a:avLst>
              <a:gd name="adj" fmla="val 50000"/>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63FA452-DF29-99BF-33A8-9AF858913B6E}"/>
              </a:ext>
            </a:extLst>
          </p:cNvPr>
          <p:cNvSpPr txBox="1"/>
          <p:nvPr/>
        </p:nvSpPr>
        <p:spPr>
          <a:xfrm>
            <a:off x="152400" y="249934"/>
            <a:ext cx="12191999" cy="5815951"/>
          </a:xfrm>
          <a:prstGeom prst="rect">
            <a:avLst/>
          </a:prstGeom>
          <a:noFill/>
        </p:spPr>
        <p:txBody>
          <a:bodyPr wrap="square">
            <a:spAutoFit/>
          </a:bodyPr>
          <a:lstStyle/>
          <a:p>
            <a:pPr>
              <a:lnSpc>
                <a:spcPct val="150000"/>
              </a:lnSpc>
            </a:pPr>
            <a:r>
              <a:rPr lang="en-US" sz="2400" dirty="0"/>
              <a:t>3.</a:t>
            </a:r>
            <a:r>
              <a:rPr lang="ar-EG" sz="2400" dirty="0"/>
              <a:t>	 </a:t>
            </a:r>
            <a:r>
              <a:rPr lang="en-US" sz="2400" dirty="0"/>
              <a:t> Multi-threading &amp; Synchronization</a:t>
            </a:r>
            <a:endParaRPr lang="en-US" dirty="0"/>
          </a:p>
          <a:p>
            <a:pPr>
              <a:lnSpc>
                <a:spcPct val="150000"/>
              </a:lnSpc>
            </a:pPr>
            <a:r>
              <a:rPr lang="en-US" sz="2000" dirty="0"/>
              <a:t>    </a:t>
            </a:r>
            <a:r>
              <a:rPr lang="en-US" sz="2000" dirty="0">
                <a:solidFill>
                  <a:srgbClr val="A6CAEC"/>
                </a:solidFill>
              </a:rPr>
              <a:t>&lt;thread&gt;</a:t>
            </a:r>
            <a:r>
              <a:rPr lang="ar-EG" sz="2000" dirty="0">
                <a:solidFill>
                  <a:srgbClr val="A6CAEC"/>
                </a:solidFill>
              </a:rPr>
              <a:t> </a:t>
            </a:r>
            <a:r>
              <a:rPr lang="en-US" sz="2000" dirty="0"/>
              <a:t>: Enables parallel execution for concurrent game and network logic.</a:t>
            </a:r>
          </a:p>
          <a:p>
            <a:pPr>
              <a:lnSpc>
                <a:spcPct val="150000"/>
              </a:lnSpc>
            </a:pPr>
            <a:r>
              <a:rPr lang="en-US" sz="2000" dirty="0"/>
              <a:t>    </a:t>
            </a:r>
            <a:r>
              <a:rPr lang="en-US" sz="2000" dirty="0">
                <a:solidFill>
                  <a:srgbClr val="A6CAEC"/>
                </a:solidFill>
              </a:rPr>
              <a:t>&lt;mutex&gt;</a:t>
            </a:r>
            <a:r>
              <a:rPr lang="ar-EG" sz="2000" dirty="0">
                <a:solidFill>
                  <a:srgbClr val="A6CAEC"/>
                </a:solidFill>
              </a:rPr>
              <a:t> </a:t>
            </a:r>
            <a:r>
              <a:rPr lang="en-US" sz="2000" dirty="0"/>
              <a:t>: Prevents data races by locking shared resources between threads.</a:t>
            </a:r>
          </a:p>
          <a:p>
            <a:pPr>
              <a:lnSpc>
                <a:spcPct val="150000"/>
              </a:lnSpc>
            </a:pPr>
            <a:r>
              <a:rPr lang="en-US" sz="2000" dirty="0">
                <a:solidFill>
                  <a:srgbClr val="A6CAEC"/>
                </a:solidFill>
              </a:rPr>
              <a:t>    &lt;atomic&gt;</a:t>
            </a:r>
            <a:r>
              <a:rPr lang="ar-EG" sz="2000" dirty="0">
                <a:solidFill>
                  <a:srgbClr val="A6CAEC"/>
                </a:solidFill>
              </a:rPr>
              <a:t> </a:t>
            </a:r>
            <a:r>
              <a:rPr lang="en-US" sz="2000" dirty="0"/>
              <a:t>: Guarantees thread-safe operations on primitive data types without locking</a:t>
            </a:r>
            <a:r>
              <a:rPr lang="en-US" dirty="0"/>
              <a:t>.</a:t>
            </a:r>
          </a:p>
          <a:p>
            <a:pPr>
              <a:lnSpc>
                <a:spcPct val="150000"/>
              </a:lnSpc>
            </a:pPr>
            <a:endParaRPr lang="en-US" dirty="0"/>
          </a:p>
          <a:p>
            <a:pPr>
              <a:lnSpc>
                <a:spcPct val="150000"/>
              </a:lnSpc>
            </a:pPr>
            <a:r>
              <a:rPr lang="en-US" sz="2400" dirty="0"/>
              <a:t>4.</a:t>
            </a:r>
            <a:r>
              <a:rPr lang="ar-EG" sz="2400" dirty="0"/>
              <a:t>	 </a:t>
            </a:r>
            <a:r>
              <a:rPr lang="en-US" sz="2400" dirty="0"/>
              <a:t> Networking &amp; Connectivity</a:t>
            </a:r>
            <a:endParaRPr lang="en-US" dirty="0"/>
          </a:p>
          <a:p>
            <a:pPr>
              <a:lnSpc>
                <a:spcPct val="150000"/>
              </a:lnSpc>
            </a:pPr>
            <a:r>
              <a:rPr lang="en-US" dirty="0">
                <a:solidFill>
                  <a:srgbClr val="A6CAEC"/>
                </a:solidFill>
              </a:rPr>
              <a:t>    </a:t>
            </a:r>
            <a:r>
              <a:rPr lang="en-US" sz="2000" dirty="0">
                <a:solidFill>
                  <a:srgbClr val="A6CAEC"/>
                </a:solidFill>
              </a:rPr>
              <a:t>&lt;winsock2.h&gt;</a:t>
            </a:r>
            <a:r>
              <a:rPr lang="ar-EG" sz="2000" dirty="0">
                <a:solidFill>
                  <a:srgbClr val="A6CAEC"/>
                </a:solidFill>
              </a:rPr>
              <a:t> </a:t>
            </a:r>
            <a:r>
              <a:rPr lang="en-US" sz="2000" dirty="0"/>
              <a:t>: The primary API for Windows Socket programming and internet communication.</a:t>
            </a:r>
          </a:p>
          <a:p>
            <a:pPr>
              <a:lnSpc>
                <a:spcPct val="150000"/>
              </a:lnSpc>
            </a:pPr>
            <a:r>
              <a:rPr lang="en-US" sz="2000" dirty="0"/>
              <a:t>    </a:t>
            </a:r>
            <a:r>
              <a:rPr lang="en-US" sz="2000" dirty="0">
                <a:solidFill>
                  <a:srgbClr val="A6CAEC"/>
                </a:solidFill>
              </a:rPr>
              <a:t>&lt;ws2tcpip.h&gt;</a:t>
            </a:r>
            <a:r>
              <a:rPr lang="ar-EG" sz="2000" dirty="0">
                <a:solidFill>
                  <a:srgbClr val="D89D72"/>
                </a:solidFill>
              </a:rPr>
              <a:t> </a:t>
            </a:r>
            <a:r>
              <a:rPr lang="en-US" sz="2000" dirty="0"/>
              <a:t>: Provides structures and functions for handling IP addresses and protocols.</a:t>
            </a:r>
          </a:p>
          <a:p>
            <a:pPr>
              <a:lnSpc>
                <a:spcPct val="150000"/>
              </a:lnSpc>
            </a:pPr>
            <a:endParaRPr lang="en-US" sz="2000" dirty="0"/>
          </a:p>
          <a:p>
            <a:pPr>
              <a:lnSpc>
                <a:spcPct val="150000"/>
              </a:lnSpc>
            </a:pPr>
            <a:r>
              <a:rPr lang="en-US" sz="2400" dirty="0"/>
              <a:t>5.</a:t>
            </a:r>
            <a:r>
              <a:rPr lang="ar-EG" sz="2400" dirty="0"/>
              <a:t>	  </a:t>
            </a:r>
            <a:r>
              <a:rPr lang="en-US" sz="2400" dirty="0"/>
              <a:t>Timing &amp; High Performance</a:t>
            </a:r>
            <a:endParaRPr lang="en-US" dirty="0"/>
          </a:p>
          <a:p>
            <a:pPr>
              <a:lnSpc>
                <a:spcPct val="150000"/>
              </a:lnSpc>
            </a:pPr>
            <a:r>
              <a:rPr lang="en-US" sz="2000" dirty="0">
                <a:solidFill>
                  <a:srgbClr val="A6CAEC"/>
                </a:solidFill>
              </a:rPr>
              <a:t>    &lt;chrono&gt;</a:t>
            </a:r>
            <a:r>
              <a:rPr lang="ar-EG" sz="2000" dirty="0">
                <a:solidFill>
                  <a:srgbClr val="A6CAEC"/>
                </a:solidFill>
              </a:rPr>
              <a:t> </a:t>
            </a:r>
            <a:r>
              <a:rPr lang="en-US" sz="2000" dirty="0"/>
              <a:t>: Utilized for high-precision timing to manage frame-rate independent movement.</a:t>
            </a:r>
          </a:p>
          <a:p>
            <a:pPr>
              <a:lnSpc>
                <a:spcPct val="150000"/>
              </a:lnSpc>
            </a:pPr>
            <a:r>
              <a:rPr lang="en-US" sz="2000" dirty="0">
                <a:solidFill>
                  <a:srgbClr val="A6CAEC"/>
                </a:solidFill>
              </a:rPr>
              <a:t>    &lt;ctime&gt;</a:t>
            </a:r>
            <a:r>
              <a:rPr lang="ar-EG" sz="2000" dirty="0">
                <a:solidFill>
                  <a:srgbClr val="A6CAEC"/>
                </a:solidFill>
              </a:rPr>
              <a:t> </a:t>
            </a:r>
            <a:r>
              <a:rPr lang="en-US" sz="2000" dirty="0"/>
              <a:t>: Used for accessing system time and date utilities.</a:t>
            </a:r>
          </a:p>
        </p:txBody>
      </p:sp>
      <p:cxnSp>
        <p:nvCxnSpPr>
          <p:cNvPr id="4" name="Straight Connector 3">
            <a:extLst>
              <a:ext uri="{FF2B5EF4-FFF2-40B4-BE49-F238E27FC236}">
                <a16:creationId xmlns:a16="http://schemas.microsoft.com/office/drawing/2014/main" id="{10580B26-C204-5C31-508B-50393FB11978}"/>
              </a:ext>
            </a:extLst>
          </p:cNvPr>
          <p:cNvCxnSpPr>
            <a:cxnSpLocks/>
          </p:cNvCxnSpPr>
          <p:nvPr/>
        </p:nvCxnSpPr>
        <p:spPr>
          <a:xfrm>
            <a:off x="343264" y="883921"/>
            <a:ext cx="4990736"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0F9661B-3AE1-2EDD-4386-C766D1F7A17B}"/>
              </a:ext>
            </a:extLst>
          </p:cNvPr>
          <p:cNvCxnSpPr>
            <a:cxnSpLocks/>
          </p:cNvCxnSpPr>
          <p:nvPr/>
        </p:nvCxnSpPr>
        <p:spPr>
          <a:xfrm>
            <a:off x="267062" y="3180806"/>
            <a:ext cx="4054567"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B7F7690-0794-1AE1-5214-45C941DD116C}"/>
              </a:ext>
            </a:extLst>
          </p:cNvPr>
          <p:cNvCxnSpPr>
            <a:cxnSpLocks/>
          </p:cNvCxnSpPr>
          <p:nvPr/>
        </p:nvCxnSpPr>
        <p:spPr>
          <a:xfrm>
            <a:off x="239487" y="5096692"/>
            <a:ext cx="4147456"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913BB36-BEC8-C45A-F9D3-4BCB9B37A43F}"/>
              </a:ext>
            </a:extLst>
          </p:cNvPr>
          <p:cNvCxnSpPr>
            <a:cxnSpLocks/>
          </p:cNvCxnSpPr>
          <p:nvPr/>
        </p:nvCxnSpPr>
        <p:spPr>
          <a:xfrm flipV="1">
            <a:off x="1524000" y="2503714"/>
            <a:ext cx="9122229" cy="21772"/>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5803632-6EDD-E46C-4918-22A75085041A}"/>
              </a:ext>
            </a:extLst>
          </p:cNvPr>
          <p:cNvCxnSpPr>
            <a:cxnSpLocks/>
          </p:cNvCxnSpPr>
          <p:nvPr/>
        </p:nvCxnSpPr>
        <p:spPr>
          <a:xfrm>
            <a:off x="1524000" y="4345578"/>
            <a:ext cx="9165771"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9796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54CFE9-0DEC-7DC3-97A7-F20626E514B7}"/>
              </a:ext>
            </a:extLst>
          </p:cNvPr>
          <p:cNvSpPr txBox="1"/>
          <p:nvPr/>
        </p:nvSpPr>
        <p:spPr>
          <a:xfrm>
            <a:off x="111760" y="213360"/>
            <a:ext cx="11501120" cy="2800767"/>
          </a:xfrm>
          <a:prstGeom prst="rect">
            <a:avLst/>
          </a:prstGeom>
          <a:noFill/>
        </p:spPr>
        <p:txBody>
          <a:bodyPr wrap="square" rtlCol="0">
            <a:spAutoFit/>
          </a:bodyPr>
          <a:lstStyle/>
          <a:p>
            <a:r>
              <a:rPr lang="en-US" sz="2400" dirty="0"/>
              <a:t>Why Vector over Array?</a:t>
            </a:r>
            <a:endParaRPr lang="ar-EG" sz="2400" dirty="0"/>
          </a:p>
          <a:p>
            <a:endParaRPr lang="ar-EG" dirty="0"/>
          </a:p>
          <a:p>
            <a:r>
              <a:rPr lang="en-US" sz="2000" dirty="0"/>
              <a:t>During the research phase of our project, we identified a critical limitation of standard C++ arrays: their size must be defined at compile time and cannot be modified during runtime. In the context of a game engine, where the number of active entities — including players, push</a:t>
            </a:r>
            <a:r>
              <a:rPr lang="ar-EG" sz="2000" dirty="0"/>
              <a:t>-</a:t>
            </a:r>
            <a:r>
              <a:rPr lang="en-US" sz="2000" dirty="0"/>
              <a:t>able boxes, and buttons</a:t>
            </a:r>
            <a:r>
              <a:rPr lang="ar-EG" sz="2000" dirty="0"/>
              <a:t> </a:t>
            </a:r>
            <a:r>
              <a:rPr lang="en-US" sz="2000" dirty="0"/>
              <a:t>— changes dynamically throughout gameplay, this constraint is unacceptable.</a:t>
            </a:r>
            <a:endParaRPr lang="ar-EG" sz="2000" dirty="0"/>
          </a:p>
          <a:p>
            <a:endParaRPr lang="ar-EG" dirty="0"/>
          </a:p>
          <a:p>
            <a:endParaRPr lang="ar-EG" dirty="0"/>
          </a:p>
          <a:p>
            <a:endParaRPr lang="en-US" dirty="0"/>
          </a:p>
        </p:txBody>
      </p:sp>
      <p:sp>
        <p:nvSpPr>
          <p:cNvPr id="5" name="Rectangle 3">
            <a:extLst>
              <a:ext uri="{FF2B5EF4-FFF2-40B4-BE49-F238E27FC236}">
                <a16:creationId xmlns:a16="http://schemas.microsoft.com/office/drawing/2014/main" id="{7A3DD66E-B8AC-7545-064A-D1F3B66481E6}"/>
              </a:ext>
            </a:extLst>
          </p:cNvPr>
          <p:cNvSpPr>
            <a:spLocks noChangeArrowheads="1"/>
          </p:cNvSpPr>
          <p:nvPr/>
        </p:nvSpPr>
        <p:spPr bwMode="auto">
          <a:xfrm>
            <a:off x="182880" y="2373290"/>
            <a:ext cx="10881360"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We therefore adopted </a:t>
            </a:r>
            <a:r>
              <a:rPr kumimoji="0" lang="en-US" altLang="en-US" sz="2800" b="0" i="0" u="none" strike="noStrike" cap="none" normalizeH="0" baseline="0" dirty="0">
                <a:ln>
                  <a:noFill/>
                </a:ln>
                <a:solidFill>
                  <a:schemeClr val="tx1"/>
                </a:solidFill>
                <a:effectLst/>
                <a:latin typeface="Arial Unicode MS"/>
              </a:rPr>
              <a:t>vector</a:t>
            </a:r>
            <a:r>
              <a:rPr kumimoji="0" lang="en-US" altLang="en-US" sz="2000" b="0" i="0" u="none" strike="noStrike" cap="none" normalizeH="0" baseline="0" dirty="0">
                <a:ln>
                  <a:noFill/>
                </a:ln>
                <a:solidFill>
                  <a:schemeClr val="tx1"/>
                </a:solidFill>
                <a:effectLst/>
              </a:rPr>
              <a:t> from the C++ Standard Template Library, which provides a dynamically resizable array. This allows the engine to efficiently manage game objects in real time, adding and removing entities as needed without any predefined size restrictions.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graphicFrame>
        <p:nvGraphicFramePr>
          <p:cNvPr id="6" name="Table 5">
            <a:extLst>
              <a:ext uri="{FF2B5EF4-FFF2-40B4-BE49-F238E27FC236}">
                <a16:creationId xmlns:a16="http://schemas.microsoft.com/office/drawing/2014/main" id="{D272F438-3E36-1B80-4F3D-DA15073F80D1}"/>
              </a:ext>
            </a:extLst>
          </p:cNvPr>
          <p:cNvGraphicFramePr>
            <a:graphicFrameLocks noGrp="1"/>
          </p:cNvGraphicFramePr>
          <p:nvPr>
            <p:extLst>
              <p:ext uri="{D42A27DB-BD31-4B8C-83A1-F6EECF244321}">
                <p14:modId xmlns:p14="http://schemas.microsoft.com/office/powerpoint/2010/main" val="1800695764"/>
              </p:ext>
            </p:extLst>
          </p:nvPr>
        </p:nvGraphicFramePr>
        <p:xfrm>
          <a:off x="711200" y="4155440"/>
          <a:ext cx="10500360" cy="1735616"/>
        </p:xfrm>
        <a:graphic>
          <a:graphicData uri="http://schemas.openxmlformats.org/drawingml/2006/table">
            <a:tbl>
              <a:tblPr>
                <a:tableStyleId>{5940675A-B579-460E-94D1-54222C63F5DA}</a:tableStyleId>
              </a:tblPr>
              <a:tblGrid>
                <a:gridCol w="5250180">
                  <a:extLst>
                    <a:ext uri="{9D8B030D-6E8A-4147-A177-3AD203B41FA5}">
                      <a16:colId xmlns:a16="http://schemas.microsoft.com/office/drawing/2014/main" val="1086562723"/>
                    </a:ext>
                  </a:extLst>
                </a:gridCol>
                <a:gridCol w="5250180">
                  <a:extLst>
                    <a:ext uri="{9D8B030D-6E8A-4147-A177-3AD203B41FA5}">
                      <a16:colId xmlns:a16="http://schemas.microsoft.com/office/drawing/2014/main" val="1823292943"/>
                    </a:ext>
                  </a:extLst>
                </a:gridCol>
              </a:tblGrid>
              <a:tr h="433904">
                <a:tc>
                  <a:txBody>
                    <a:bodyPr/>
                    <a:lstStyle/>
                    <a:p>
                      <a:pPr algn="ctr"/>
                      <a:r>
                        <a:rPr lang="en-US" dirty="0">
                          <a:solidFill>
                            <a:schemeClr val="bg1"/>
                          </a:solidFill>
                        </a:rPr>
                        <a:t>Array</a:t>
                      </a:r>
                    </a:p>
                  </a:txBody>
                  <a:tcPr anchor="ctr">
                    <a:solidFill>
                      <a:srgbClr val="A6CAEC"/>
                    </a:solidFill>
                  </a:tcPr>
                </a:tc>
                <a:tc>
                  <a:txBody>
                    <a:bodyPr/>
                    <a:lstStyle/>
                    <a:p>
                      <a:pPr algn="ctr"/>
                      <a:r>
                        <a:rPr lang="en-US" dirty="0">
                          <a:solidFill>
                            <a:schemeClr val="bg1"/>
                          </a:solidFill>
                        </a:rPr>
                        <a:t>Vector</a:t>
                      </a:r>
                    </a:p>
                  </a:txBody>
                  <a:tcPr anchor="ctr">
                    <a:solidFill>
                      <a:schemeClr val="bg2">
                        <a:lumMod val="25000"/>
                        <a:lumOff val="75000"/>
                      </a:schemeClr>
                    </a:solidFill>
                  </a:tcPr>
                </a:tc>
                <a:extLst>
                  <a:ext uri="{0D108BD9-81ED-4DB2-BD59-A6C34878D82A}">
                    <a16:rowId xmlns:a16="http://schemas.microsoft.com/office/drawing/2014/main" val="2796590505"/>
                  </a:ext>
                </a:extLst>
              </a:tr>
              <a:tr h="433904">
                <a:tc>
                  <a:txBody>
                    <a:bodyPr/>
                    <a:lstStyle/>
                    <a:p>
                      <a:pPr algn="ctr"/>
                      <a:r>
                        <a:rPr lang="en-US"/>
                        <a:t>Fixed size</a:t>
                      </a:r>
                    </a:p>
                  </a:txBody>
                  <a:tcPr anchor="ctr"/>
                </a:tc>
                <a:tc>
                  <a:txBody>
                    <a:bodyPr/>
                    <a:lstStyle/>
                    <a:p>
                      <a:pPr algn="ctr"/>
                      <a:r>
                        <a:rPr lang="en-US" dirty="0"/>
                        <a:t>Dynamic size</a:t>
                      </a:r>
                    </a:p>
                  </a:txBody>
                  <a:tcPr anchor="ctr"/>
                </a:tc>
                <a:extLst>
                  <a:ext uri="{0D108BD9-81ED-4DB2-BD59-A6C34878D82A}">
                    <a16:rowId xmlns:a16="http://schemas.microsoft.com/office/drawing/2014/main" val="1902152843"/>
                  </a:ext>
                </a:extLst>
              </a:tr>
              <a:tr h="433904">
                <a:tc>
                  <a:txBody>
                    <a:bodyPr/>
                    <a:lstStyle/>
                    <a:p>
                      <a:pPr algn="ctr"/>
                      <a:r>
                        <a:rPr lang="en-US"/>
                        <a:t>Defined at compile time</a:t>
                      </a:r>
                    </a:p>
                  </a:txBody>
                  <a:tcPr anchor="ctr"/>
                </a:tc>
                <a:tc>
                  <a:txBody>
                    <a:bodyPr/>
                    <a:lstStyle/>
                    <a:p>
                      <a:pPr algn="ctr"/>
                      <a:r>
                        <a:rPr lang="en-US"/>
                        <a:t>Resizes at runtime</a:t>
                      </a:r>
                    </a:p>
                  </a:txBody>
                  <a:tcPr anchor="ctr"/>
                </a:tc>
                <a:extLst>
                  <a:ext uri="{0D108BD9-81ED-4DB2-BD59-A6C34878D82A}">
                    <a16:rowId xmlns:a16="http://schemas.microsoft.com/office/drawing/2014/main" val="3192520683"/>
                  </a:ext>
                </a:extLst>
              </a:tr>
              <a:tr h="433904">
                <a:tc>
                  <a:txBody>
                    <a:bodyPr/>
                    <a:lstStyle/>
                    <a:p>
                      <a:pPr algn="ctr"/>
                      <a:r>
                        <a:rPr lang="en-US"/>
                        <a:t>Cannot add/remove</a:t>
                      </a:r>
                    </a:p>
                  </a:txBody>
                  <a:tcPr anchor="ctr"/>
                </a:tc>
                <a:tc>
                  <a:txBody>
                    <a:bodyPr/>
                    <a:lstStyle/>
                    <a:p>
                      <a:pPr algn="ctr"/>
                      <a:r>
                        <a:rPr lang="en-US" dirty="0"/>
                        <a:t>Add/remove freely</a:t>
                      </a:r>
                    </a:p>
                  </a:txBody>
                  <a:tcPr anchor="ctr"/>
                </a:tc>
                <a:extLst>
                  <a:ext uri="{0D108BD9-81ED-4DB2-BD59-A6C34878D82A}">
                    <a16:rowId xmlns:a16="http://schemas.microsoft.com/office/drawing/2014/main" val="79600610"/>
                  </a:ext>
                </a:extLst>
              </a:tr>
            </a:tbl>
          </a:graphicData>
        </a:graphic>
      </p:graphicFrame>
    </p:spTree>
    <p:extLst>
      <p:ext uri="{BB962C8B-B14F-4D97-AF65-F5344CB8AC3E}">
        <p14:creationId xmlns:p14="http://schemas.microsoft.com/office/powerpoint/2010/main" val="3100845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B078EE4F-8BA9-98F7-4843-BFD3E89A062D}"/>
              </a:ext>
            </a:extLst>
          </p:cNvPr>
          <p:cNvSpPr txBox="1"/>
          <p:nvPr/>
        </p:nvSpPr>
        <p:spPr>
          <a:xfrm>
            <a:off x="5008880" y="365760"/>
            <a:ext cx="7183120" cy="5858463"/>
          </a:xfrm>
          <a:prstGeom prst="rect">
            <a:avLst/>
          </a:prstGeom>
          <a:noFill/>
        </p:spPr>
        <p:txBody>
          <a:bodyPr wrap="square" rtlCol="0">
            <a:spAutoFit/>
          </a:bodyPr>
          <a:lstStyle/>
          <a:p>
            <a:r>
              <a:rPr lang="en-US" sz="2000" dirty="0"/>
              <a:t>Vec2 Struct Analysis</a:t>
            </a:r>
          </a:p>
          <a:p>
            <a:endParaRPr lang="en-US" dirty="0"/>
          </a:p>
          <a:p>
            <a:pPr marL="285750" indent="-285750">
              <a:lnSpc>
                <a:spcPct val="150000"/>
              </a:lnSpc>
              <a:buFont typeface="Arial" panose="020B0604020202020204" pitchFamily="34" charset="0"/>
              <a:buChar char="•"/>
            </a:pPr>
            <a:r>
              <a:rPr lang="en-US" dirty="0"/>
              <a:t>    </a:t>
            </a:r>
            <a:r>
              <a:rPr lang="en-US" sz="1600" dirty="0"/>
              <a:t>Initialization: Uses a Member Initializer List for efficient </a:t>
            </a:r>
            <a:r>
              <a:rPr lang="en-US" sz="1600" dirty="0" err="1"/>
              <a:t>x,y</a:t>
            </a:r>
            <a:r>
              <a:rPr lang="en-US" sz="1600" dirty="0"/>
              <a:t> assignment with default values.</a:t>
            </a:r>
          </a:p>
          <a:p>
            <a:pPr>
              <a:lnSpc>
                <a:spcPct val="150000"/>
              </a:lnSpc>
            </a:pPr>
            <a:endParaRPr lang="en-US" sz="1600" dirty="0"/>
          </a:p>
          <a:p>
            <a:pPr marL="342900" indent="-342900">
              <a:lnSpc>
                <a:spcPct val="150000"/>
              </a:lnSpc>
              <a:buFont typeface="Arial" panose="020B0604020202020204" pitchFamily="34" charset="0"/>
              <a:buChar char="•"/>
            </a:pPr>
            <a:r>
              <a:rPr lang="en-US" sz="1600" dirty="0"/>
              <a:t>    Math Logic: Overloads Arithmetic Operators (+,−) to simplify vector calculations into intuitive math expressions.</a:t>
            </a:r>
          </a:p>
          <a:p>
            <a:pPr>
              <a:lnSpc>
                <a:spcPct val="150000"/>
              </a:lnSpc>
            </a:pPr>
            <a:endParaRPr lang="en-US" sz="1600" dirty="0"/>
          </a:p>
          <a:p>
            <a:pPr marL="342900" indent="-342900">
              <a:lnSpc>
                <a:spcPct val="150000"/>
              </a:lnSpc>
              <a:buFont typeface="Arial" panose="020B0604020202020204" pitchFamily="34" charset="0"/>
              <a:buChar char="•"/>
            </a:pPr>
            <a:r>
              <a:rPr lang="en-US" sz="1600" dirty="0"/>
              <a:t>    State Updates: Implements Compound Assignments (+=,−=) to modify object coordinates directly in memory.</a:t>
            </a:r>
          </a:p>
          <a:p>
            <a:pPr>
              <a:lnSpc>
                <a:spcPct val="150000"/>
              </a:lnSpc>
            </a:pPr>
            <a:endParaRPr lang="en-US" sz="1600" dirty="0"/>
          </a:p>
          <a:p>
            <a:pPr marL="342900" indent="-342900">
              <a:lnSpc>
                <a:spcPct val="150000"/>
              </a:lnSpc>
              <a:buFont typeface="Arial" panose="020B0604020202020204" pitchFamily="34" charset="0"/>
              <a:buChar char="•"/>
            </a:pPr>
            <a:r>
              <a:rPr lang="en-US" sz="1600" dirty="0"/>
              <a:t>    Performance: Utilizes Const References to prevent unnecessary data copying and ensure memory efficiency.</a:t>
            </a:r>
          </a:p>
          <a:p>
            <a:pPr>
              <a:lnSpc>
                <a:spcPct val="150000"/>
              </a:lnSpc>
            </a:pPr>
            <a:endParaRPr lang="en-US" sz="1600" dirty="0"/>
          </a:p>
          <a:p>
            <a:pPr marL="342900" indent="-342900">
              <a:lnSpc>
                <a:spcPct val="150000"/>
              </a:lnSpc>
              <a:buFont typeface="Arial" panose="020B0604020202020204" pitchFamily="34" charset="0"/>
              <a:buChar char="•"/>
            </a:pPr>
            <a:r>
              <a:rPr lang="en-US" sz="1600" dirty="0"/>
              <a:t>    Equality Check: Provides a Boolean Operator (==) for precise coordinate comparison between entities.</a:t>
            </a:r>
          </a:p>
        </p:txBody>
      </p:sp>
      <p:sp>
        <p:nvSpPr>
          <p:cNvPr id="15" name="Rectangle: Rounded Corners 14">
            <a:extLst>
              <a:ext uri="{FF2B5EF4-FFF2-40B4-BE49-F238E27FC236}">
                <a16:creationId xmlns:a16="http://schemas.microsoft.com/office/drawing/2014/main" id="{9700B173-99EF-6966-63B3-C511FD8A444B}"/>
              </a:ext>
            </a:extLst>
          </p:cNvPr>
          <p:cNvSpPr/>
          <p:nvPr/>
        </p:nvSpPr>
        <p:spPr>
          <a:xfrm>
            <a:off x="304800" y="558800"/>
            <a:ext cx="4287520" cy="578104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solidFill>
                  <a:srgbClr val="CA8560"/>
                </a:solidFill>
              </a:rPr>
              <a:t>“Vec2.h”</a:t>
            </a:r>
          </a:p>
        </p:txBody>
      </p:sp>
    </p:spTree>
    <p:extLst>
      <p:ext uri="{BB962C8B-B14F-4D97-AF65-F5344CB8AC3E}">
        <p14:creationId xmlns:p14="http://schemas.microsoft.com/office/powerpoint/2010/main" val="22909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D173979-6FFE-AB88-8F25-7A8E2002B6E8}"/>
              </a:ext>
            </a:extLst>
          </p:cNvPr>
          <p:cNvSpPr/>
          <p:nvPr/>
        </p:nvSpPr>
        <p:spPr>
          <a:xfrm>
            <a:off x="152400" y="599440"/>
            <a:ext cx="4500880" cy="59232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135633B2-ADF1-B4C5-3029-C0FF0E2A325A}"/>
              </a:ext>
            </a:extLst>
          </p:cNvPr>
          <p:cNvSpPr txBox="1"/>
          <p:nvPr/>
        </p:nvSpPr>
        <p:spPr>
          <a:xfrm>
            <a:off x="5039360" y="211217"/>
            <a:ext cx="7152640" cy="6740307"/>
          </a:xfrm>
          <a:prstGeom prst="rect">
            <a:avLst/>
          </a:prstGeom>
          <a:noFill/>
        </p:spPr>
        <p:txBody>
          <a:bodyPr wrap="square" rtlCol="0">
            <a:spAutoFit/>
          </a:bodyPr>
          <a:lstStyle/>
          <a:p>
            <a:pPr marL="342900" indent="-342900">
              <a:buSzPct val="130000"/>
              <a:buFont typeface="Arial" panose="020B0604020202020204" pitchFamily="34" charset="0"/>
              <a:buChar char="•"/>
            </a:pPr>
            <a:r>
              <a:rPr lang="en-US" sz="2400" b="1" dirty="0"/>
              <a:t>Abstract Foundation: </a:t>
            </a:r>
          </a:p>
          <a:p>
            <a:r>
              <a:rPr lang="en-US" sz="2000" dirty="0"/>
              <a:t>Define an Abstract Base Class that serves as a blueprint for all game objects, ensuring a unified interface for movement and rendering through Pure Virtual Functions.</a:t>
            </a:r>
          </a:p>
          <a:p>
            <a:endParaRPr lang="en-US" sz="2000" dirty="0"/>
          </a:p>
          <a:p>
            <a:pPr marL="342900" indent="-342900">
              <a:buSzPct val="130000"/>
              <a:buFont typeface="Arial" panose="020B0604020202020204" pitchFamily="34" charset="0"/>
              <a:buChar char="•"/>
            </a:pPr>
            <a:r>
              <a:rPr lang="en-US" sz="2400" b="1" dirty="0"/>
              <a:t>Encapsulated State: </a:t>
            </a:r>
          </a:p>
          <a:p>
            <a:r>
              <a:rPr lang="en-US" sz="2000" dirty="0"/>
              <a:t>Maintains essential entity data (Position, Velocity, Health) using Protected Access Modifiers, allowing derived classes to inherit state while preventing unauthorized external modification.</a:t>
            </a:r>
          </a:p>
          <a:p>
            <a:endParaRPr lang="en-US" sz="2000" b="1" dirty="0"/>
          </a:p>
          <a:p>
            <a:pPr marL="342900" indent="-342900">
              <a:buSzPct val="130000"/>
              <a:buFont typeface="Arial" panose="020B0604020202020204" pitchFamily="34" charset="0"/>
              <a:buChar char="•"/>
            </a:pPr>
            <a:r>
              <a:rPr lang="en-US" sz="2400" b="1" dirty="0"/>
              <a:t>Polymorphic Behavior: </a:t>
            </a:r>
          </a:p>
          <a:p>
            <a:r>
              <a:rPr lang="en-US" sz="2000" dirty="0"/>
              <a:t>Implements a Virtual Destructor and overridable methods (update, render) to enable Dynamic Dispatch, allowing the engine to manage diverse entity types through a single pointer type.</a:t>
            </a:r>
          </a:p>
          <a:p>
            <a:endParaRPr lang="en-US" sz="2000" dirty="0"/>
          </a:p>
          <a:p>
            <a:pPr marL="342900" indent="-342900">
              <a:buSzPct val="130000"/>
              <a:buFont typeface="Arial" panose="020B0604020202020204" pitchFamily="34" charset="0"/>
              <a:buChar char="•"/>
            </a:pPr>
            <a:r>
              <a:rPr lang="en-US" sz="2400" b="1" dirty="0"/>
              <a:t>Memory Integrity: </a:t>
            </a:r>
          </a:p>
          <a:p>
            <a:r>
              <a:rPr lang="en-US" sz="2000" dirty="0"/>
              <a:t>Leverages Resource Acquisition Is Initialization (RAII) principles to ensure that when an entity is flagged as inactive, its memory is safely reclaimed by the system without leaks.</a:t>
            </a:r>
          </a:p>
          <a:p>
            <a:endParaRPr lang="en-US" sz="2000" dirty="0"/>
          </a:p>
        </p:txBody>
      </p:sp>
    </p:spTree>
    <p:extLst>
      <p:ext uri="{BB962C8B-B14F-4D97-AF65-F5344CB8AC3E}">
        <p14:creationId xmlns:p14="http://schemas.microsoft.com/office/powerpoint/2010/main" val="312989416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1071</TotalTime>
  <Words>955</Words>
  <Application>Microsoft Office PowerPoint</Application>
  <PresentationFormat>Widescreen</PresentationFormat>
  <Paragraphs>108</Paragraphs>
  <Slides>11</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Arial Unicode MS</vt:lpstr>
      <vt:lpstr>Baskerville Old Face</vt:lpstr>
      <vt:lpstr>Lucida Console</vt:lpstr>
      <vt:lpstr>Playbill</vt:lpstr>
      <vt:lpstr>Urbanist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emam 0</dc:creator>
  <cp:lastModifiedBy>emam 0</cp:lastModifiedBy>
  <cp:revision>7</cp:revision>
  <dcterms:created xsi:type="dcterms:W3CDTF">2026-03-21T07:17:00Z</dcterms:created>
  <dcterms:modified xsi:type="dcterms:W3CDTF">2026-04-14T02:10:59Z</dcterms:modified>
</cp:coreProperties>
</file>